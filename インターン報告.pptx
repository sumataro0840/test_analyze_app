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74" r:id="rId3"/>
    <p:sldId id="257" r:id="rId4"/>
    <p:sldId id="270" r:id="rId5"/>
    <p:sldId id="262" r:id="rId6"/>
    <p:sldId id="275" r:id="rId7"/>
    <p:sldId id="263" r:id="rId8"/>
    <p:sldId id="264" r:id="rId9"/>
    <p:sldId id="265" r:id="rId10"/>
    <p:sldId id="266" r:id="rId11"/>
    <p:sldId id="272" r:id="rId12"/>
    <p:sldId id="273" r:id="rId13"/>
    <p:sldId id="267" r:id="rId14"/>
    <p:sldId id="268" r:id="rId15"/>
    <p:sldId id="269" r:id="rId16"/>
    <p:sldId id="271"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05C2E4-49BB-4A30-BE3A-61BA3DB3C3C6}" type="datetimeFigureOut">
              <a:rPr kumimoji="1" lang="ja-JP" altLang="en-US" smtClean="0"/>
              <a:t>2026/3/31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9984EF-A62C-4316-9DEF-99DDBD8F6D92}" type="slidenum">
              <a:rPr kumimoji="1" lang="ja-JP" altLang="en-US" smtClean="0"/>
              <a:t>‹#›</a:t>
            </a:fld>
            <a:endParaRPr kumimoji="1" lang="ja-JP" altLang="en-US"/>
          </a:p>
        </p:txBody>
      </p:sp>
    </p:spTree>
    <p:extLst>
      <p:ext uri="{BB962C8B-B14F-4D97-AF65-F5344CB8AC3E}">
        <p14:creationId xmlns:p14="http://schemas.microsoft.com/office/powerpoint/2010/main" val="213550313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F39984EF-A62C-4316-9DEF-99DDBD8F6D92}" type="slidenum">
              <a:rPr kumimoji="1" lang="ja-JP" altLang="en-US" smtClean="0"/>
              <a:t>10</a:t>
            </a:fld>
            <a:endParaRPr kumimoji="1" lang="ja-JP" altLang="en-US"/>
          </a:p>
        </p:txBody>
      </p:sp>
    </p:spTree>
    <p:extLst>
      <p:ext uri="{BB962C8B-B14F-4D97-AF65-F5344CB8AC3E}">
        <p14:creationId xmlns:p14="http://schemas.microsoft.com/office/powerpoint/2010/main" val="1859005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78FF02-A400-2E55-B0D5-F89B509D9D5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035A3B98-D942-5BDD-B6F4-18731C4961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31C1712-A479-156A-C006-670B34A4237D}"/>
              </a:ext>
            </a:extLst>
          </p:cNvPr>
          <p:cNvSpPr>
            <a:spLocks noGrp="1"/>
          </p:cNvSpPr>
          <p:nvPr>
            <p:ph type="dt" sz="half" idx="10"/>
          </p:nvPr>
        </p:nvSpPr>
        <p:spPr/>
        <p:txBody>
          <a:bodyPr/>
          <a:lstStyle/>
          <a:p>
            <a:fld id="{3E0CAF1E-5E7E-4869-AFCB-87DC84ACEB7F}" type="datetimeFigureOut">
              <a:rPr kumimoji="1" lang="ja-JP" altLang="en-US" smtClean="0"/>
              <a:t>2026/3/31</a:t>
            </a:fld>
            <a:endParaRPr kumimoji="1" lang="ja-JP" altLang="en-US"/>
          </a:p>
        </p:txBody>
      </p:sp>
      <p:sp>
        <p:nvSpPr>
          <p:cNvPr id="5" name="フッター プレースホルダー 4">
            <a:extLst>
              <a:ext uri="{FF2B5EF4-FFF2-40B4-BE49-F238E27FC236}">
                <a16:creationId xmlns:a16="http://schemas.microsoft.com/office/drawing/2014/main" id="{E05C5D8C-8B62-B13E-3885-AC42514B3F1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A1E23A1-311D-4497-B9E1-F90E4E817C76}"/>
              </a:ext>
            </a:extLst>
          </p:cNvPr>
          <p:cNvSpPr>
            <a:spLocks noGrp="1"/>
          </p:cNvSpPr>
          <p:nvPr>
            <p:ph type="sldNum" sz="quarter" idx="12"/>
          </p:nvPr>
        </p:nvSpPr>
        <p:spPr/>
        <p:txBody>
          <a:bodyPr/>
          <a:lstStyle/>
          <a:p>
            <a:fld id="{DA4FA7F4-0AEC-45C8-A26A-3511012139FA}" type="slidenum">
              <a:rPr kumimoji="1" lang="ja-JP" altLang="en-US" smtClean="0"/>
              <a:t>‹#›</a:t>
            </a:fld>
            <a:endParaRPr kumimoji="1" lang="ja-JP" altLang="en-US"/>
          </a:p>
        </p:txBody>
      </p:sp>
    </p:spTree>
    <p:extLst>
      <p:ext uri="{BB962C8B-B14F-4D97-AF65-F5344CB8AC3E}">
        <p14:creationId xmlns:p14="http://schemas.microsoft.com/office/powerpoint/2010/main" val="4093034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B3D813-BD2A-8D7D-C507-0628C56C978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EE9A93F-94DF-1067-020E-0826348C21CF}"/>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8E19F27-5260-144B-B7D4-7B500A494CB4}"/>
              </a:ext>
            </a:extLst>
          </p:cNvPr>
          <p:cNvSpPr>
            <a:spLocks noGrp="1"/>
          </p:cNvSpPr>
          <p:nvPr>
            <p:ph type="dt" sz="half" idx="10"/>
          </p:nvPr>
        </p:nvSpPr>
        <p:spPr/>
        <p:txBody>
          <a:bodyPr/>
          <a:lstStyle/>
          <a:p>
            <a:fld id="{3E0CAF1E-5E7E-4869-AFCB-87DC84ACEB7F}" type="datetimeFigureOut">
              <a:rPr kumimoji="1" lang="ja-JP" altLang="en-US" smtClean="0"/>
              <a:t>2026/3/31</a:t>
            </a:fld>
            <a:endParaRPr kumimoji="1" lang="ja-JP" altLang="en-US"/>
          </a:p>
        </p:txBody>
      </p:sp>
      <p:sp>
        <p:nvSpPr>
          <p:cNvPr id="5" name="フッター プレースホルダー 4">
            <a:extLst>
              <a:ext uri="{FF2B5EF4-FFF2-40B4-BE49-F238E27FC236}">
                <a16:creationId xmlns:a16="http://schemas.microsoft.com/office/drawing/2014/main" id="{76FA5760-40AE-9603-A21B-75763B1847F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98EC5AC-2911-92C6-8695-4B8569798490}"/>
              </a:ext>
            </a:extLst>
          </p:cNvPr>
          <p:cNvSpPr>
            <a:spLocks noGrp="1"/>
          </p:cNvSpPr>
          <p:nvPr>
            <p:ph type="sldNum" sz="quarter" idx="12"/>
          </p:nvPr>
        </p:nvSpPr>
        <p:spPr/>
        <p:txBody>
          <a:bodyPr/>
          <a:lstStyle/>
          <a:p>
            <a:fld id="{DA4FA7F4-0AEC-45C8-A26A-3511012139FA}" type="slidenum">
              <a:rPr kumimoji="1" lang="ja-JP" altLang="en-US" smtClean="0"/>
              <a:t>‹#›</a:t>
            </a:fld>
            <a:endParaRPr kumimoji="1" lang="ja-JP" altLang="en-US"/>
          </a:p>
        </p:txBody>
      </p:sp>
    </p:spTree>
    <p:extLst>
      <p:ext uri="{BB962C8B-B14F-4D97-AF65-F5344CB8AC3E}">
        <p14:creationId xmlns:p14="http://schemas.microsoft.com/office/powerpoint/2010/main" val="280404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4ACB30-AD3C-894E-9190-0B05C11CE263}"/>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99E57C9-5CD9-F2F4-DCCD-7A4E01BEC6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8150B12-E708-BA37-E73B-97A16643B684}"/>
              </a:ext>
            </a:extLst>
          </p:cNvPr>
          <p:cNvSpPr>
            <a:spLocks noGrp="1"/>
          </p:cNvSpPr>
          <p:nvPr>
            <p:ph type="dt" sz="half" idx="10"/>
          </p:nvPr>
        </p:nvSpPr>
        <p:spPr/>
        <p:txBody>
          <a:bodyPr/>
          <a:lstStyle/>
          <a:p>
            <a:fld id="{3E0CAF1E-5E7E-4869-AFCB-87DC84ACEB7F}" type="datetimeFigureOut">
              <a:rPr kumimoji="1" lang="ja-JP" altLang="en-US" smtClean="0"/>
              <a:t>2026/3/31</a:t>
            </a:fld>
            <a:endParaRPr kumimoji="1" lang="ja-JP" altLang="en-US"/>
          </a:p>
        </p:txBody>
      </p:sp>
      <p:sp>
        <p:nvSpPr>
          <p:cNvPr id="5" name="フッター プレースホルダー 4">
            <a:extLst>
              <a:ext uri="{FF2B5EF4-FFF2-40B4-BE49-F238E27FC236}">
                <a16:creationId xmlns:a16="http://schemas.microsoft.com/office/drawing/2014/main" id="{17E89107-16A6-CC0D-355A-D9A0A15E215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D11E303-0688-DBB3-1517-6210D0F9E64A}"/>
              </a:ext>
            </a:extLst>
          </p:cNvPr>
          <p:cNvSpPr>
            <a:spLocks noGrp="1"/>
          </p:cNvSpPr>
          <p:nvPr>
            <p:ph type="sldNum" sz="quarter" idx="12"/>
          </p:nvPr>
        </p:nvSpPr>
        <p:spPr/>
        <p:txBody>
          <a:bodyPr/>
          <a:lstStyle/>
          <a:p>
            <a:fld id="{DA4FA7F4-0AEC-45C8-A26A-3511012139FA}" type="slidenum">
              <a:rPr kumimoji="1" lang="ja-JP" altLang="en-US" smtClean="0"/>
              <a:t>‹#›</a:t>
            </a:fld>
            <a:endParaRPr kumimoji="1" lang="ja-JP" altLang="en-US"/>
          </a:p>
        </p:txBody>
      </p:sp>
    </p:spTree>
    <p:extLst>
      <p:ext uri="{BB962C8B-B14F-4D97-AF65-F5344CB8AC3E}">
        <p14:creationId xmlns:p14="http://schemas.microsoft.com/office/powerpoint/2010/main" val="447877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B252FE-1465-0FE6-FAE1-0FDEDE460F7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345FEB7-CC24-C231-9A16-ECAD07421EA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CC7C7FB-7C91-C5E0-65DF-25F06D088038}"/>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E61BD4A-9E87-2A89-91DB-D5E727ECA962}"/>
              </a:ext>
            </a:extLst>
          </p:cNvPr>
          <p:cNvSpPr>
            <a:spLocks noGrp="1"/>
          </p:cNvSpPr>
          <p:nvPr>
            <p:ph type="dt" sz="half" idx="10"/>
          </p:nvPr>
        </p:nvSpPr>
        <p:spPr/>
        <p:txBody>
          <a:bodyPr/>
          <a:lstStyle/>
          <a:p>
            <a:fld id="{3E0CAF1E-5E7E-4869-AFCB-87DC84ACEB7F}" type="datetimeFigureOut">
              <a:rPr kumimoji="1" lang="ja-JP" altLang="en-US" smtClean="0"/>
              <a:t>2026/3/31</a:t>
            </a:fld>
            <a:endParaRPr kumimoji="1" lang="ja-JP" altLang="en-US"/>
          </a:p>
        </p:txBody>
      </p:sp>
      <p:sp>
        <p:nvSpPr>
          <p:cNvPr id="6" name="フッター プレースホルダー 5">
            <a:extLst>
              <a:ext uri="{FF2B5EF4-FFF2-40B4-BE49-F238E27FC236}">
                <a16:creationId xmlns:a16="http://schemas.microsoft.com/office/drawing/2014/main" id="{468020CF-4345-2DA0-8EDF-7E1D7A0F6E6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9123F99-329D-8987-E772-16B6C1E1A951}"/>
              </a:ext>
            </a:extLst>
          </p:cNvPr>
          <p:cNvSpPr>
            <a:spLocks noGrp="1"/>
          </p:cNvSpPr>
          <p:nvPr>
            <p:ph type="sldNum" sz="quarter" idx="12"/>
          </p:nvPr>
        </p:nvSpPr>
        <p:spPr/>
        <p:txBody>
          <a:bodyPr/>
          <a:lstStyle/>
          <a:p>
            <a:fld id="{DA4FA7F4-0AEC-45C8-A26A-3511012139FA}" type="slidenum">
              <a:rPr kumimoji="1" lang="ja-JP" altLang="en-US" smtClean="0"/>
              <a:t>‹#›</a:t>
            </a:fld>
            <a:endParaRPr kumimoji="1" lang="ja-JP" altLang="en-US"/>
          </a:p>
        </p:txBody>
      </p:sp>
    </p:spTree>
    <p:extLst>
      <p:ext uri="{BB962C8B-B14F-4D97-AF65-F5344CB8AC3E}">
        <p14:creationId xmlns:p14="http://schemas.microsoft.com/office/powerpoint/2010/main" val="290555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EE35AA-E093-3F70-FC59-BC08F82B5234}"/>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15F0D0F-2E55-9873-6EBD-F453C07107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404E316-D3C1-23E1-119E-BF107848856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58197CB2-1201-38FF-3700-42CD5DF411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E0EB2448-A135-D24B-F9EB-C95816B8133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B914D19F-6DBE-FFCC-CA28-D2A6CAD03125}"/>
              </a:ext>
            </a:extLst>
          </p:cNvPr>
          <p:cNvSpPr>
            <a:spLocks noGrp="1"/>
          </p:cNvSpPr>
          <p:nvPr>
            <p:ph type="dt" sz="half" idx="10"/>
          </p:nvPr>
        </p:nvSpPr>
        <p:spPr/>
        <p:txBody>
          <a:bodyPr/>
          <a:lstStyle/>
          <a:p>
            <a:fld id="{3E0CAF1E-5E7E-4869-AFCB-87DC84ACEB7F}" type="datetimeFigureOut">
              <a:rPr kumimoji="1" lang="ja-JP" altLang="en-US" smtClean="0"/>
              <a:t>2026/3/31</a:t>
            </a:fld>
            <a:endParaRPr kumimoji="1" lang="ja-JP" altLang="en-US"/>
          </a:p>
        </p:txBody>
      </p:sp>
      <p:sp>
        <p:nvSpPr>
          <p:cNvPr id="8" name="フッター プレースホルダー 7">
            <a:extLst>
              <a:ext uri="{FF2B5EF4-FFF2-40B4-BE49-F238E27FC236}">
                <a16:creationId xmlns:a16="http://schemas.microsoft.com/office/drawing/2014/main" id="{5B6FF4C1-F683-17A4-28B0-662ACA2F0803}"/>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CAE9046-0202-8757-2333-9A02A8959B94}"/>
              </a:ext>
            </a:extLst>
          </p:cNvPr>
          <p:cNvSpPr>
            <a:spLocks noGrp="1"/>
          </p:cNvSpPr>
          <p:nvPr>
            <p:ph type="sldNum" sz="quarter" idx="12"/>
          </p:nvPr>
        </p:nvSpPr>
        <p:spPr/>
        <p:txBody>
          <a:bodyPr/>
          <a:lstStyle/>
          <a:p>
            <a:fld id="{DA4FA7F4-0AEC-45C8-A26A-3511012139FA}" type="slidenum">
              <a:rPr kumimoji="1" lang="ja-JP" altLang="en-US" smtClean="0"/>
              <a:t>‹#›</a:t>
            </a:fld>
            <a:endParaRPr kumimoji="1" lang="ja-JP" altLang="en-US"/>
          </a:p>
        </p:txBody>
      </p:sp>
    </p:spTree>
    <p:extLst>
      <p:ext uri="{BB962C8B-B14F-4D97-AF65-F5344CB8AC3E}">
        <p14:creationId xmlns:p14="http://schemas.microsoft.com/office/powerpoint/2010/main" val="41651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30586C-3CD8-09A9-DFD1-EF0A7AA9C5A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A0B4939-9331-1503-E379-DA563342D1D9}"/>
              </a:ext>
            </a:extLst>
          </p:cNvPr>
          <p:cNvSpPr>
            <a:spLocks noGrp="1"/>
          </p:cNvSpPr>
          <p:nvPr>
            <p:ph type="dt" sz="half" idx="10"/>
          </p:nvPr>
        </p:nvSpPr>
        <p:spPr/>
        <p:txBody>
          <a:bodyPr/>
          <a:lstStyle/>
          <a:p>
            <a:fld id="{3E0CAF1E-5E7E-4869-AFCB-87DC84ACEB7F}" type="datetimeFigureOut">
              <a:rPr kumimoji="1" lang="ja-JP" altLang="en-US" smtClean="0"/>
              <a:t>2026/3/31</a:t>
            </a:fld>
            <a:endParaRPr kumimoji="1" lang="ja-JP" altLang="en-US"/>
          </a:p>
        </p:txBody>
      </p:sp>
      <p:sp>
        <p:nvSpPr>
          <p:cNvPr id="4" name="フッター プレースホルダー 3">
            <a:extLst>
              <a:ext uri="{FF2B5EF4-FFF2-40B4-BE49-F238E27FC236}">
                <a16:creationId xmlns:a16="http://schemas.microsoft.com/office/drawing/2014/main" id="{EAFEEEF8-4FCF-302B-788D-16AB92271F8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02D9B82-C2BE-97C3-B5D9-10296E010206}"/>
              </a:ext>
            </a:extLst>
          </p:cNvPr>
          <p:cNvSpPr>
            <a:spLocks noGrp="1"/>
          </p:cNvSpPr>
          <p:nvPr>
            <p:ph type="sldNum" sz="quarter" idx="12"/>
          </p:nvPr>
        </p:nvSpPr>
        <p:spPr/>
        <p:txBody>
          <a:bodyPr/>
          <a:lstStyle/>
          <a:p>
            <a:fld id="{DA4FA7F4-0AEC-45C8-A26A-3511012139FA}" type="slidenum">
              <a:rPr kumimoji="1" lang="ja-JP" altLang="en-US" smtClean="0"/>
              <a:t>‹#›</a:t>
            </a:fld>
            <a:endParaRPr kumimoji="1" lang="ja-JP" altLang="en-US"/>
          </a:p>
        </p:txBody>
      </p:sp>
    </p:spTree>
    <p:extLst>
      <p:ext uri="{BB962C8B-B14F-4D97-AF65-F5344CB8AC3E}">
        <p14:creationId xmlns:p14="http://schemas.microsoft.com/office/powerpoint/2010/main" val="1509558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B1D783E-19C3-A11D-3DBF-439F7428F05F}"/>
              </a:ext>
            </a:extLst>
          </p:cNvPr>
          <p:cNvSpPr>
            <a:spLocks noGrp="1"/>
          </p:cNvSpPr>
          <p:nvPr>
            <p:ph type="dt" sz="half" idx="10"/>
          </p:nvPr>
        </p:nvSpPr>
        <p:spPr/>
        <p:txBody>
          <a:bodyPr/>
          <a:lstStyle/>
          <a:p>
            <a:fld id="{3E0CAF1E-5E7E-4869-AFCB-87DC84ACEB7F}" type="datetimeFigureOut">
              <a:rPr kumimoji="1" lang="ja-JP" altLang="en-US" smtClean="0"/>
              <a:t>2026/3/31</a:t>
            </a:fld>
            <a:endParaRPr kumimoji="1" lang="ja-JP" altLang="en-US"/>
          </a:p>
        </p:txBody>
      </p:sp>
      <p:sp>
        <p:nvSpPr>
          <p:cNvPr id="3" name="フッター プレースホルダー 2">
            <a:extLst>
              <a:ext uri="{FF2B5EF4-FFF2-40B4-BE49-F238E27FC236}">
                <a16:creationId xmlns:a16="http://schemas.microsoft.com/office/drawing/2014/main" id="{1B927E36-7F51-5C1A-DFCD-F6427FC15E3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EF51A27-F1DF-7412-8A1C-32C3A0564A7D}"/>
              </a:ext>
            </a:extLst>
          </p:cNvPr>
          <p:cNvSpPr>
            <a:spLocks noGrp="1"/>
          </p:cNvSpPr>
          <p:nvPr>
            <p:ph type="sldNum" sz="quarter" idx="12"/>
          </p:nvPr>
        </p:nvSpPr>
        <p:spPr/>
        <p:txBody>
          <a:bodyPr/>
          <a:lstStyle/>
          <a:p>
            <a:fld id="{DA4FA7F4-0AEC-45C8-A26A-3511012139FA}" type="slidenum">
              <a:rPr kumimoji="1" lang="ja-JP" altLang="en-US" smtClean="0"/>
              <a:t>‹#›</a:t>
            </a:fld>
            <a:endParaRPr kumimoji="1" lang="ja-JP" altLang="en-US"/>
          </a:p>
        </p:txBody>
      </p:sp>
    </p:spTree>
    <p:extLst>
      <p:ext uri="{BB962C8B-B14F-4D97-AF65-F5344CB8AC3E}">
        <p14:creationId xmlns:p14="http://schemas.microsoft.com/office/powerpoint/2010/main" val="1188899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5A9A43-2839-9D79-FF09-F0AE1B7BB5F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593C102-B936-905A-5E11-03DCC18CA5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72092DC3-828D-D586-30A6-3EBA4F7CA9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B7F5BBC-C2C1-FC01-22A4-86EFC4DE9375}"/>
              </a:ext>
            </a:extLst>
          </p:cNvPr>
          <p:cNvSpPr>
            <a:spLocks noGrp="1"/>
          </p:cNvSpPr>
          <p:nvPr>
            <p:ph type="dt" sz="half" idx="10"/>
          </p:nvPr>
        </p:nvSpPr>
        <p:spPr/>
        <p:txBody>
          <a:bodyPr/>
          <a:lstStyle/>
          <a:p>
            <a:fld id="{3E0CAF1E-5E7E-4869-AFCB-87DC84ACEB7F}" type="datetimeFigureOut">
              <a:rPr kumimoji="1" lang="ja-JP" altLang="en-US" smtClean="0"/>
              <a:t>2026/3/31</a:t>
            </a:fld>
            <a:endParaRPr kumimoji="1" lang="ja-JP" altLang="en-US"/>
          </a:p>
        </p:txBody>
      </p:sp>
      <p:sp>
        <p:nvSpPr>
          <p:cNvPr id="6" name="フッター プレースホルダー 5">
            <a:extLst>
              <a:ext uri="{FF2B5EF4-FFF2-40B4-BE49-F238E27FC236}">
                <a16:creationId xmlns:a16="http://schemas.microsoft.com/office/drawing/2014/main" id="{51C72FCC-C489-5D75-8337-72D2672D6F1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E55856D-7F71-638A-9FA9-38FEA0603D7E}"/>
              </a:ext>
            </a:extLst>
          </p:cNvPr>
          <p:cNvSpPr>
            <a:spLocks noGrp="1"/>
          </p:cNvSpPr>
          <p:nvPr>
            <p:ph type="sldNum" sz="quarter" idx="12"/>
          </p:nvPr>
        </p:nvSpPr>
        <p:spPr/>
        <p:txBody>
          <a:bodyPr/>
          <a:lstStyle/>
          <a:p>
            <a:fld id="{DA4FA7F4-0AEC-45C8-A26A-3511012139FA}" type="slidenum">
              <a:rPr kumimoji="1" lang="ja-JP" altLang="en-US" smtClean="0"/>
              <a:t>‹#›</a:t>
            </a:fld>
            <a:endParaRPr kumimoji="1" lang="ja-JP" altLang="en-US"/>
          </a:p>
        </p:txBody>
      </p:sp>
    </p:spTree>
    <p:extLst>
      <p:ext uri="{BB962C8B-B14F-4D97-AF65-F5344CB8AC3E}">
        <p14:creationId xmlns:p14="http://schemas.microsoft.com/office/powerpoint/2010/main" val="2999921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A349B9-ED83-7596-557F-57C77DDBA52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F99EB90-D304-7B44-EDAE-3B63A2706E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3DF51100-F9C6-545D-95F2-1555DA51F9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A114755-938F-8D7C-C124-6A5A5718BA0C}"/>
              </a:ext>
            </a:extLst>
          </p:cNvPr>
          <p:cNvSpPr>
            <a:spLocks noGrp="1"/>
          </p:cNvSpPr>
          <p:nvPr>
            <p:ph type="dt" sz="half" idx="10"/>
          </p:nvPr>
        </p:nvSpPr>
        <p:spPr/>
        <p:txBody>
          <a:bodyPr/>
          <a:lstStyle/>
          <a:p>
            <a:fld id="{3E0CAF1E-5E7E-4869-AFCB-87DC84ACEB7F}" type="datetimeFigureOut">
              <a:rPr kumimoji="1" lang="ja-JP" altLang="en-US" smtClean="0"/>
              <a:t>2026/3/31</a:t>
            </a:fld>
            <a:endParaRPr kumimoji="1" lang="ja-JP" altLang="en-US"/>
          </a:p>
        </p:txBody>
      </p:sp>
      <p:sp>
        <p:nvSpPr>
          <p:cNvPr id="6" name="フッター プレースホルダー 5">
            <a:extLst>
              <a:ext uri="{FF2B5EF4-FFF2-40B4-BE49-F238E27FC236}">
                <a16:creationId xmlns:a16="http://schemas.microsoft.com/office/drawing/2014/main" id="{73F19250-4915-C72D-A61A-6636C32F250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7A2034B-563C-B655-E5A7-E0200C2649DB}"/>
              </a:ext>
            </a:extLst>
          </p:cNvPr>
          <p:cNvSpPr>
            <a:spLocks noGrp="1"/>
          </p:cNvSpPr>
          <p:nvPr>
            <p:ph type="sldNum" sz="quarter" idx="12"/>
          </p:nvPr>
        </p:nvSpPr>
        <p:spPr/>
        <p:txBody>
          <a:bodyPr/>
          <a:lstStyle/>
          <a:p>
            <a:fld id="{DA4FA7F4-0AEC-45C8-A26A-3511012139FA}" type="slidenum">
              <a:rPr kumimoji="1" lang="ja-JP" altLang="en-US" smtClean="0"/>
              <a:t>‹#›</a:t>
            </a:fld>
            <a:endParaRPr kumimoji="1" lang="ja-JP" altLang="en-US"/>
          </a:p>
        </p:txBody>
      </p:sp>
    </p:spTree>
    <p:extLst>
      <p:ext uri="{BB962C8B-B14F-4D97-AF65-F5344CB8AC3E}">
        <p14:creationId xmlns:p14="http://schemas.microsoft.com/office/powerpoint/2010/main" val="3543385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F7E45C-AD66-68AA-2E03-37886DA0ECD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1FB5EF7-D6F4-4AE4-1D9A-5B7E57B0C73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37E43B8-214C-65C8-51DB-74F6A049B32B}"/>
              </a:ext>
            </a:extLst>
          </p:cNvPr>
          <p:cNvSpPr>
            <a:spLocks noGrp="1"/>
          </p:cNvSpPr>
          <p:nvPr>
            <p:ph type="dt" sz="half" idx="10"/>
          </p:nvPr>
        </p:nvSpPr>
        <p:spPr/>
        <p:txBody>
          <a:bodyPr/>
          <a:lstStyle/>
          <a:p>
            <a:fld id="{3E0CAF1E-5E7E-4869-AFCB-87DC84ACEB7F}" type="datetimeFigureOut">
              <a:rPr kumimoji="1" lang="ja-JP" altLang="en-US" smtClean="0"/>
              <a:t>2026/3/31</a:t>
            </a:fld>
            <a:endParaRPr kumimoji="1" lang="ja-JP" altLang="en-US"/>
          </a:p>
        </p:txBody>
      </p:sp>
      <p:sp>
        <p:nvSpPr>
          <p:cNvPr id="5" name="フッター プレースホルダー 4">
            <a:extLst>
              <a:ext uri="{FF2B5EF4-FFF2-40B4-BE49-F238E27FC236}">
                <a16:creationId xmlns:a16="http://schemas.microsoft.com/office/drawing/2014/main" id="{5CC3772C-00B2-2E33-5BDF-DFA7815901C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5179181-EBC1-777B-8B73-2AAB60295A0B}"/>
              </a:ext>
            </a:extLst>
          </p:cNvPr>
          <p:cNvSpPr>
            <a:spLocks noGrp="1"/>
          </p:cNvSpPr>
          <p:nvPr>
            <p:ph type="sldNum" sz="quarter" idx="12"/>
          </p:nvPr>
        </p:nvSpPr>
        <p:spPr/>
        <p:txBody>
          <a:bodyPr/>
          <a:lstStyle/>
          <a:p>
            <a:fld id="{DA4FA7F4-0AEC-45C8-A26A-3511012139FA}" type="slidenum">
              <a:rPr kumimoji="1" lang="ja-JP" altLang="en-US" smtClean="0"/>
              <a:t>‹#›</a:t>
            </a:fld>
            <a:endParaRPr kumimoji="1" lang="ja-JP" altLang="en-US"/>
          </a:p>
        </p:txBody>
      </p:sp>
    </p:spTree>
    <p:extLst>
      <p:ext uri="{BB962C8B-B14F-4D97-AF65-F5344CB8AC3E}">
        <p14:creationId xmlns:p14="http://schemas.microsoft.com/office/powerpoint/2010/main" val="26414529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5C58EF7-50C2-EF20-ED40-F7AD6968975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AD11C0C-66AF-B977-1864-1FDEECC283C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1DB15EC-ED5A-5CF8-9379-E6692E47B7BF}"/>
              </a:ext>
            </a:extLst>
          </p:cNvPr>
          <p:cNvSpPr>
            <a:spLocks noGrp="1"/>
          </p:cNvSpPr>
          <p:nvPr>
            <p:ph type="dt" sz="half" idx="10"/>
          </p:nvPr>
        </p:nvSpPr>
        <p:spPr/>
        <p:txBody>
          <a:bodyPr/>
          <a:lstStyle/>
          <a:p>
            <a:fld id="{3E0CAF1E-5E7E-4869-AFCB-87DC84ACEB7F}" type="datetimeFigureOut">
              <a:rPr kumimoji="1" lang="ja-JP" altLang="en-US" smtClean="0"/>
              <a:t>2026/3/31</a:t>
            </a:fld>
            <a:endParaRPr kumimoji="1" lang="ja-JP" altLang="en-US"/>
          </a:p>
        </p:txBody>
      </p:sp>
      <p:sp>
        <p:nvSpPr>
          <p:cNvPr id="5" name="フッター プレースホルダー 4">
            <a:extLst>
              <a:ext uri="{FF2B5EF4-FFF2-40B4-BE49-F238E27FC236}">
                <a16:creationId xmlns:a16="http://schemas.microsoft.com/office/drawing/2014/main" id="{EB7EADB8-F7B3-6D1B-9BB6-1FEDEB40D3C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BDCA08F-B636-7CE1-6DEF-E0BD33FB3ED1}"/>
              </a:ext>
            </a:extLst>
          </p:cNvPr>
          <p:cNvSpPr>
            <a:spLocks noGrp="1"/>
          </p:cNvSpPr>
          <p:nvPr>
            <p:ph type="sldNum" sz="quarter" idx="12"/>
          </p:nvPr>
        </p:nvSpPr>
        <p:spPr/>
        <p:txBody>
          <a:bodyPr/>
          <a:lstStyle/>
          <a:p>
            <a:fld id="{DA4FA7F4-0AEC-45C8-A26A-3511012139FA}" type="slidenum">
              <a:rPr kumimoji="1" lang="ja-JP" altLang="en-US" smtClean="0"/>
              <a:t>‹#›</a:t>
            </a:fld>
            <a:endParaRPr kumimoji="1" lang="ja-JP" altLang="en-US"/>
          </a:p>
        </p:txBody>
      </p:sp>
    </p:spTree>
    <p:extLst>
      <p:ext uri="{BB962C8B-B14F-4D97-AF65-F5344CB8AC3E}">
        <p14:creationId xmlns:p14="http://schemas.microsoft.com/office/powerpoint/2010/main" val="967748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18A2060-28B3-E789-C6CC-E4A411E19A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912A374-E01A-F127-7134-526B210945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E6F6A13-CED2-DDDD-1591-E2C6B14ADD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0CAF1E-5E7E-4869-AFCB-87DC84ACEB7F}" type="datetimeFigureOut">
              <a:rPr kumimoji="1" lang="ja-JP" altLang="en-US" smtClean="0"/>
              <a:t>2026/3/31</a:t>
            </a:fld>
            <a:endParaRPr kumimoji="1" lang="ja-JP" altLang="en-US"/>
          </a:p>
        </p:txBody>
      </p:sp>
      <p:sp>
        <p:nvSpPr>
          <p:cNvPr id="5" name="フッター プレースホルダー 4">
            <a:extLst>
              <a:ext uri="{FF2B5EF4-FFF2-40B4-BE49-F238E27FC236}">
                <a16:creationId xmlns:a16="http://schemas.microsoft.com/office/drawing/2014/main" id="{178BBA72-EA5E-E713-4A5A-E176724784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3F9E489-DB75-AE41-ED8B-DE50D71B5F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4FA7F4-0AEC-45C8-A26A-3511012139FA}" type="slidenum">
              <a:rPr kumimoji="1" lang="ja-JP" altLang="en-US" smtClean="0"/>
              <a:t>‹#›</a:t>
            </a:fld>
            <a:endParaRPr kumimoji="1" lang="ja-JP" altLang="en-US"/>
          </a:p>
        </p:txBody>
      </p:sp>
    </p:spTree>
    <p:extLst>
      <p:ext uri="{BB962C8B-B14F-4D97-AF65-F5344CB8AC3E}">
        <p14:creationId xmlns:p14="http://schemas.microsoft.com/office/powerpoint/2010/main" val="7940710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5FD236-5C55-585F-A836-68D9C0C4A039}"/>
              </a:ext>
            </a:extLst>
          </p:cNvPr>
          <p:cNvSpPr>
            <a:spLocks noGrp="1"/>
          </p:cNvSpPr>
          <p:nvPr>
            <p:ph type="ctrTitle"/>
          </p:nvPr>
        </p:nvSpPr>
        <p:spPr/>
        <p:txBody>
          <a:bodyPr>
            <a:normAutofit/>
          </a:bodyPr>
          <a:lstStyle/>
          <a:p>
            <a:r>
              <a:rPr lang="ja-JP" altLang="en-US" dirty="0"/>
              <a:t>投資勧誘戦略について</a:t>
            </a:r>
            <a:endParaRPr kumimoji="1" lang="ja-JP" altLang="en-US" dirty="0"/>
          </a:p>
        </p:txBody>
      </p:sp>
      <p:cxnSp>
        <p:nvCxnSpPr>
          <p:cNvPr id="5" name="直線コネクタ 4">
            <a:extLst>
              <a:ext uri="{FF2B5EF4-FFF2-40B4-BE49-F238E27FC236}">
                <a16:creationId xmlns:a16="http://schemas.microsoft.com/office/drawing/2014/main" id="{B9550E1C-1277-DD76-5E9C-AF02409447BD}"/>
              </a:ext>
            </a:extLst>
          </p:cNvPr>
          <p:cNvCxnSpPr/>
          <p:nvPr/>
        </p:nvCxnSpPr>
        <p:spPr>
          <a:xfrm>
            <a:off x="1051560" y="3941064"/>
            <a:ext cx="9546336" cy="0"/>
          </a:xfrm>
          <a:prstGeom prst="line">
            <a:avLst/>
          </a:prstGeom>
        </p:spPr>
        <p:style>
          <a:lnRef idx="2">
            <a:schemeClr val="dk1"/>
          </a:lnRef>
          <a:fillRef idx="0">
            <a:schemeClr val="dk1"/>
          </a:fillRef>
          <a:effectRef idx="1">
            <a:schemeClr val="dk1"/>
          </a:effectRef>
          <a:fontRef idx="minor">
            <a:schemeClr val="tx1"/>
          </a:fontRef>
        </p:style>
      </p:cxnSp>
      <p:sp>
        <p:nvSpPr>
          <p:cNvPr id="6" name="テキスト ボックス 5">
            <a:extLst>
              <a:ext uri="{FF2B5EF4-FFF2-40B4-BE49-F238E27FC236}">
                <a16:creationId xmlns:a16="http://schemas.microsoft.com/office/drawing/2014/main" id="{99A03227-FF89-ADBE-ACBB-3CF075E21AF9}"/>
              </a:ext>
            </a:extLst>
          </p:cNvPr>
          <p:cNvSpPr txBox="1"/>
          <p:nvPr/>
        </p:nvSpPr>
        <p:spPr>
          <a:xfrm>
            <a:off x="1257300" y="3571732"/>
            <a:ext cx="4339650" cy="369332"/>
          </a:xfrm>
          <a:prstGeom prst="rect">
            <a:avLst/>
          </a:prstGeom>
          <a:noFill/>
        </p:spPr>
        <p:txBody>
          <a:bodyPr wrap="none" rtlCol="0">
            <a:spAutoFit/>
          </a:bodyPr>
          <a:lstStyle/>
          <a:p>
            <a:r>
              <a:rPr kumimoji="1" lang="ja-JP" altLang="en-US" dirty="0"/>
              <a:t>過去と未来データからの基礎分析と応用</a:t>
            </a:r>
          </a:p>
        </p:txBody>
      </p:sp>
      <p:sp>
        <p:nvSpPr>
          <p:cNvPr id="7" name="字幕 6">
            <a:extLst>
              <a:ext uri="{FF2B5EF4-FFF2-40B4-BE49-F238E27FC236}">
                <a16:creationId xmlns:a16="http://schemas.microsoft.com/office/drawing/2014/main" id="{272623D3-40F5-93FF-6D72-9EF419EB9055}"/>
              </a:ext>
            </a:extLst>
          </p:cNvPr>
          <p:cNvSpPr>
            <a:spLocks noGrp="1"/>
          </p:cNvSpPr>
          <p:nvPr>
            <p:ph type="subTitle" idx="1"/>
          </p:nvPr>
        </p:nvSpPr>
        <p:spPr/>
        <p:txBody>
          <a:bodyPr/>
          <a:lstStyle/>
          <a:p>
            <a:endParaRPr lang="ja-JP" altLang="en-US" dirty="0"/>
          </a:p>
        </p:txBody>
      </p:sp>
    </p:spTree>
    <p:extLst>
      <p:ext uri="{BB962C8B-B14F-4D97-AF65-F5344CB8AC3E}">
        <p14:creationId xmlns:p14="http://schemas.microsoft.com/office/powerpoint/2010/main" val="3629617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8627F0-195C-119C-FFAF-218349476B4D}"/>
              </a:ext>
            </a:extLst>
          </p:cNvPr>
          <p:cNvSpPr>
            <a:spLocks noGrp="1"/>
          </p:cNvSpPr>
          <p:nvPr>
            <p:ph type="title"/>
          </p:nvPr>
        </p:nvSpPr>
        <p:spPr/>
        <p:txBody>
          <a:bodyPr/>
          <a:lstStyle/>
          <a:p>
            <a:r>
              <a:rPr kumimoji="1" lang="ja-JP" altLang="en-US" dirty="0"/>
              <a:t>もくじ</a:t>
            </a:r>
          </a:p>
        </p:txBody>
      </p:sp>
      <p:sp>
        <p:nvSpPr>
          <p:cNvPr id="3" name="コンテンツ プレースホルダー 2">
            <a:extLst>
              <a:ext uri="{FF2B5EF4-FFF2-40B4-BE49-F238E27FC236}">
                <a16:creationId xmlns:a16="http://schemas.microsoft.com/office/drawing/2014/main" id="{FBABF9F9-6971-0234-B625-A8F3C43F6A8D}"/>
              </a:ext>
            </a:extLst>
          </p:cNvPr>
          <p:cNvSpPr>
            <a:spLocks noGrp="1"/>
          </p:cNvSpPr>
          <p:nvPr>
            <p:ph idx="1"/>
          </p:nvPr>
        </p:nvSpPr>
        <p:spPr>
          <a:xfrm>
            <a:off x="838200" y="1825625"/>
            <a:ext cx="3816096" cy="4351338"/>
          </a:xfrm>
        </p:spPr>
        <p:txBody>
          <a:bodyPr/>
          <a:lstStyle/>
          <a:p>
            <a:r>
              <a:rPr kumimoji="1" lang="ja-JP" altLang="en-US" dirty="0"/>
              <a:t>背景</a:t>
            </a:r>
            <a:endParaRPr kumimoji="1" lang="en-US" altLang="ja-JP" dirty="0"/>
          </a:p>
          <a:p>
            <a:endParaRPr lang="en-US" altLang="ja-JP" dirty="0"/>
          </a:p>
          <a:p>
            <a:r>
              <a:rPr kumimoji="1" lang="ja-JP" altLang="en-US" dirty="0"/>
              <a:t>仮説、分析内容</a:t>
            </a:r>
            <a:endParaRPr kumimoji="1" lang="en-US" altLang="ja-JP" dirty="0"/>
          </a:p>
          <a:p>
            <a:endParaRPr lang="en-US" altLang="ja-JP" dirty="0"/>
          </a:p>
          <a:p>
            <a:r>
              <a:rPr kumimoji="1" lang="ja-JP" altLang="en-US" dirty="0"/>
              <a:t>分析結果</a:t>
            </a:r>
            <a:endParaRPr kumimoji="1" lang="en-US" altLang="ja-JP" dirty="0"/>
          </a:p>
          <a:p>
            <a:endParaRPr lang="en-US" altLang="ja-JP" dirty="0"/>
          </a:p>
          <a:p>
            <a:r>
              <a:rPr lang="ja-JP" altLang="en-US" dirty="0"/>
              <a:t>分析結果まとめ</a:t>
            </a:r>
            <a:endParaRPr lang="en-US" altLang="ja-JP" dirty="0"/>
          </a:p>
          <a:p>
            <a:endParaRPr kumimoji="1" lang="ja-JP" altLang="en-US" dirty="0"/>
          </a:p>
        </p:txBody>
      </p:sp>
      <p:sp>
        <p:nvSpPr>
          <p:cNvPr id="8" name="テキスト ボックス 7">
            <a:extLst>
              <a:ext uri="{FF2B5EF4-FFF2-40B4-BE49-F238E27FC236}">
                <a16:creationId xmlns:a16="http://schemas.microsoft.com/office/drawing/2014/main" id="{40515123-A927-5B19-6B7C-88C4196B9D5A}"/>
              </a:ext>
            </a:extLst>
          </p:cNvPr>
          <p:cNvSpPr txBox="1"/>
          <p:nvPr/>
        </p:nvSpPr>
        <p:spPr>
          <a:xfrm>
            <a:off x="6478905" y="1690688"/>
            <a:ext cx="5570756" cy="3816429"/>
          </a:xfrm>
          <a:prstGeom prst="rect">
            <a:avLst/>
          </a:prstGeom>
          <a:noFill/>
        </p:spPr>
        <p:txBody>
          <a:bodyPr wrap="none" rtlCol="0">
            <a:spAutoFit/>
          </a:bodyPr>
          <a:lstStyle/>
          <a:p>
            <a:r>
              <a:rPr kumimoji="1" lang="ja-JP" altLang="en-US" sz="2800" dirty="0"/>
              <a:t>・得られたデータからモデル構築</a:t>
            </a:r>
            <a:endParaRPr kumimoji="1" lang="en-US" altLang="ja-JP" sz="2800" dirty="0"/>
          </a:p>
          <a:p>
            <a:endParaRPr lang="en-US" altLang="ja-JP" sz="2800" dirty="0"/>
          </a:p>
          <a:p>
            <a:r>
              <a:rPr kumimoji="1" lang="ja-JP" altLang="en-US" sz="2800" dirty="0"/>
              <a:t>・モデルの評価</a:t>
            </a:r>
            <a:endParaRPr kumimoji="1" lang="en-US" altLang="ja-JP" sz="2800" dirty="0"/>
          </a:p>
          <a:p>
            <a:endParaRPr lang="en-US" altLang="ja-JP" sz="2800" dirty="0"/>
          </a:p>
          <a:p>
            <a:r>
              <a:rPr kumimoji="1" lang="ja-JP" altLang="en-US" sz="2800" dirty="0"/>
              <a:t>・施策提案</a:t>
            </a:r>
            <a:endParaRPr kumimoji="1" lang="en-US" altLang="ja-JP" sz="2800" dirty="0"/>
          </a:p>
          <a:p>
            <a:endParaRPr lang="en-US" altLang="ja-JP" sz="2800" dirty="0"/>
          </a:p>
          <a:p>
            <a:r>
              <a:rPr kumimoji="1" lang="ja-JP" altLang="en-US" sz="2800" dirty="0"/>
              <a:t>・今後の課題</a:t>
            </a:r>
            <a:endParaRPr kumimoji="1" lang="en-US" altLang="ja-JP" sz="2800" dirty="0"/>
          </a:p>
          <a:p>
            <a:endParaRPr lang="en-US" altLang="ja-JP" sz="2800" dirty="0"/>
          </a:p>
          <a:p>
            <a:endParaRPr kumimoji="1" lang="ja-JP" altLang="en-US" dirty="0"/>
          </a:p>
        </p:txBody>
      </p:sp>
      <p:cxnSp>
        <p:nvCxnSpPr>
          <p:cNvPr id="15" name="コネクタ: カギ線 14">
            <a:extLst>
              <a:ext uri="{FF2B5EF4-FFF2-40B4-BE49-F238E27FC236}">
                <a16:creationId xmlns:a16="http://schemas.microsoft.com/office/drawing/2014/main" id="{AE46D663-A34A-DF0B-784E-01FFDB180EAC}"/>
              </a:ext>
            </a:extLst>
          </p:cNvPr>
          <p:cNvCxnSpPr>
            <a:cxnSpLocks/>
          </p:cNvCxnSpPr>
          <p:nvPr/>
        </p:nvCxnSpPr>
        <p:spPr>
          <a:xfrm rot="5400000">
            <a:off x="3186907" y="2934493"/>
            <a:ext cx="3341687" cy="1123950"/>
          </a:xfrm>
          <a:prstGeom prst="bentConnector3">
            <a:avLst>
              <a:gd name="adj1" fmla="val 99881"/>
            </a:avLst>
          </a:prstGeom>
        </p:spPr>
        <p:style>
          <a:lnRef idx="2">
            <a:schemeClr val="dk1"/>
          </a:lnRef>
          <a:fillRef idx="0">
            <a:schemeClr val="dk1"/>
          </a:fillRef>
          <a:effectRef idx="1">
            <a:schemeClr val="dk1"/>
          </a:effectRef>
          <a:fontRef idx="minor">
            <a:schemeClr val="tx1"/>
          </a:fontRef>
        </p:style>
      </p:cxnSp>
      <p:cxnSp>
        <p:nvCxnSpPr>
          <p:cNvPr id="21" name="直線矢印コネクタ 20">
            <a:extLst>
              <a:ext uri="{FF2B5EF4-FFF2-40B4-BE49-F238E27FC236}">
                <a16:creationId xmlns:a16="http://schemas.microsoft.com/office/drawing/2014/main" id="{CB691D66-685E-4EFE-59CA-5BB0E53C519B}"/>
              </a:ext>
            </a:extLst>
          </p:cNvPr>
          <p:cNvCxnSpPr>
            <a:cxnSpLocks/>
          </p:cNvCxnSpPr>
          <p:nvPr/>
        </p:nvCxnSpPr>
        <p:spPr>
          <a:xfrm>
            <a:off x="5419726" y="1825624"/>
            <a:ext cx="9715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203485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6A13C85A-F46C-E8DE-9288-69B0C363BBE2}"/>
              </a:ext>
            </a:extLst>
          </p:cNvPr>
          <p:cNvSpPr/>
          <p:nvPr/>
        </p:nvSpPr>
        <p:spPr>
          <a:xfrm>
            <a:off x="0" y="0"/>
            <a:ext cx="12192000" cy="99669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5400" dirty="0"/>
              <a:t>背景・目的</a:t>
            </a:r>
          </a:p>
        </p:txBody>
      </p:sp>
      <p:pic>
        <p:nvPicPr>
          <p:cNvPr id="18" name="図 17" descr="グラフ, 折れ線グラフ&#10;&#10;AI 生成コンテンツは誤りを含む可能性があります。">
            <a:extLst>
              <a:ext uri="{FF2B5EF4-FFF2-40B4-BE49-F238E27FC236}">
                <a16:creationId xmlns:a16="http://schemas.microsoft.com/office/drawing/2014/main" id="{9A5778A7-669A-2156-0FD9-5E0DD476AB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599" y="2952751"/>
            <a:ext cx="4923135" cy="3082888"/>
          </a:xfrm>
          <a:prstGeom prst="rect">
            <a:avLst/>
          </a:prstGeom>
        </p:spPr>
      </p:pic>
      <p:sp>
        <p:nvSpPr>
          <p:cNvPr id="20" name="テキスト ボックス 19">
            <a:extLst>
              <a:ext uri="{FF2B5EF4-FFF2-40B4-BE49-F238E27FC236}">
                <a16:creationId xmlns:a16="http://schemas.microsoft.com/office/drawing/2014/main" id="{114987EE-BC1D-4D69-7589-2B93A334E76D}"/>
              </a:ext>
            </a:extLst>
          </p:cNvPr>
          <p:cNvSpPr txBox="1"/>
          <p:nvPr/>
        </p:nvSpPr>
        <p:spPr>
          <a:xfrm>
            <a:off x="0" y="6596390"/>
            <a:ext cx="6400800" cy="261610"/>
          </a:xfrm>
          <a:prstGeom prst="rect">
            <a:avLst/>
          </a:prstGeom>
          <a:noFill/>
        </p:spPr>
        <p:txBody>
          <a:bodyPr wrap="square">
            <a:spAutoFit/>
          </a:bodyPr>
          <a:lstStyle/>
          <a:p>
            <a:r>
              <a:rPr lang="ja-JP" altLang="en-US" sz="1100" dirty="0"/>
              <a:t>https://www.asahi.com/articles/DA3S15348126.html</a:t>
            </a:r>
          </a:p>
        </p:txBody>
      </p:sp>
      <p:sp>
        <p:nvSpPr>
          <p:cNvPr id="21" name="テキスト ボックス 20">
            <a:extLst>
              <a:ext uri="{FF2B5EF4-FFF2-40B4-BE49-F238E27FC236}">
                <a16:creationId xmlns:a16="http://schemas.microsoft.com/office/drawing/2014/main" id="{0D0B1022-D218-D70F-5615-432D6B7A5C89}"/>
              </a:ext>
            </a:extLst>
          </p:cNvPr>
          <p:cNvSpPr txBox="1"/>
          <p:nvPr/>
        </p:nvSpPr>
        <p:spPr>
          <a:xfrm>
            <a:off x="1866900" y="6131348"/>
            <a:ext cx="2031325" cy="369332"/>
          </a:xfrm>
          <a:prstGeom prst="rect">
            <a:avLst/>
          </a:prstGeom>
          <a:noFill/>
        </p:spPr>
        <p:txBody>
          <a:bodyPr wrap="none" rtlCol="0">
            <a:spAutoFit/>
          </a:bodyPr>
          <a:lstStyle/>
          <a:p>
            <a:r>
              <a:rPr kumimoji="1" lang="ja-JP" altLang="en-US" dirty="0"/>
              <a:t>個人投資家の推移</a:t>
            </a:r>
          </a:p>
        </p:txBody>
      </p:sp>
      <p:sp>
        <p:nvSpPr>
          <p:cNvPr id="22" name="テキスト ボックス 21">
            <a:extLst>
              <a:ext uri="{FF2B5EF4-FFF2-40B4-BE49-F238E27FC236}">
                <a16:creationId xmlns:a16="http://schemas.microsoft.com/office/drawing/2014/main" id="{FD63896E-831E-A1C3-A8F1-032DD48E17D5}"/>
              </a:ext>
            </a:extLst>
          </p:cNvPr>
          <p:cNvSpPr txBox="1"/>
          <p:nvPr/>
        </p:nvSpPr>
        <p:spPr>
          <a:xfrm>
            <a:off x="617599" y="1938582"/>
            <a:ext cx="2723823" cy="923330"/>
          </a:xfrm>
          <a:prstGeom prst="rect">
            <a:avLst/>
          </a:prstGeom>
          <a:noFill/>
        </p:spPr>
        <p:txBody>
          <a:bodyPr wrap="none" rtlCol="0">
            <a:spAutoFit/>
          </a:bodyPr>
          <a:lstStyle/>
          <a:p>
            <a:r>
              <a:rPr kumimoji="1" lang="ja-JP" altLang="en-US" dirty="0"/>
              <a:t>・個人株主の人数の上昇</a:t>
            </a:r>
            <a:endParaRPr kumimoji="1" lang="en-US" altLang="ja-JP" dirty="0"/>
          </a:p>
          <a:p>
            <a:r>
              <a:rPr lang="ja-JP" altLang="en-US" dirty="0"/>
              <a:t>・加入率の伸びしろ</a:t>
            </a:r>
            <a:endParaRPr lang="en-US" altLang="ja-JP" dirty="0"/>
          </a:p>
          <a:p>
            <a:r>
              <a:rPr kumimoji="1" lang="ja-JP" altLang="en-US" dirty="0"/>
              <a:t>・高い収益性</a:t>
            </a:r>
          </a:p>
        </p:txBody>
      </p:sp>
      <p:sp>
        <p:nvSpPr>
          <p:cNvPr id="23" name="テキスト ボックス 22">
            <a:extLst>
              <a:ext uri="{FF2B5EF4-FFF2-40B4-BE49-F238E27FC236}">
                <a16:creationId xmlns:a16="http://schemas.microsoft.com/office/drawing/2014/main" id="{D9AAD63C-A64C-5070-20B3-B721E5BCEC91}"/>
              </a:ext>
            </a:extLst>
          </p:cNvPr>
          <p:cNvSpPr txBox="1"/>
          <p:nvPr/>
        </p:nvSpPr>
        <p:spPr>
          <a:xfrm>
            <a:off x="369094" y="1214670"/>
            <a:ext cx="4581525" cy="646331"/>
          </a:xfrm>
          <a:prstGeom prst="rect">
            <a:avLst/>
          </a:prstGeom>
          <a:noFill/>
        </p:spPr>
        <p:txBody>
          <a:bodyPr wrap="square" rtlCol="0">
            <a:spAutoFit/>
          </a:bodyPr>
          <a:lstStyle/>
          <a:p>
            <a:r>
              <a:rPr kumimoji="1" lang="ja-JP" altLang="en-US" sz="3600" b="1" dirty="0"/>
              <a:t>何故投資勧誘なのか</a:t>
            </a:r>
          </a:p>
        </p:txBody>
      </p:sp>
      <p:pic>
        <p:nvPicPr>
          <p:cNvPr id="29" name="図 28" descr="グラフ, 棒グラフ&#10;&#10;AI 生成コンテンツは誤りを含む可能性があります。">
            <a:extLst>
              <a:ext uri="{FF2B5EF4-FFF2-40B4-BE49-F238E27FC236}">
                <a16:creationId xmlns:a16="http://schemas.microsoft.com/office/drawing/2014/main" id="{1F185E10-DA04-CFD3-898A-640A3E4911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1825" y="1141948"/>
            <a:ext cx="4581525" cy="2754311"/>
          </a:xfrm>
          <a:prstGeom prst="rect">
            <a:avLst/>
          </a:prstGeom>
        </p:spPr>
      </p:pic>
      <p:sp>
        <p:nvSpPr>
          <p:cNvPr id="31" name="テキスト ボックス 30">
            <a:extLst>
              <a:ext uri="{FF2B5EF4-FFF2-40B4-BE49-F238E27FC236}">
                <a16:creationId xmlns:a16="http://schemas.microsoft.com/office/drawing/2014/main" id="{D4E7C4C8-1596-BAE1-B7BF-071F02909CB1}"/>
              </a:ext>
            </a:extLst>
          </p:cNvPr>
          <p:cNvSpPr txBox="1"/>
          <p:nvPr/>
        </p:nvSpPr>
        <p:spPr>
          <a:xfrm>
            <a:off x="6727241" y="3830386"/>
            <a:ext cx="4596130" cy="923330"/>
          </a:xfrm>
          <a:prstGeom prst="rect">
            <a:avLst/>
          </a:prstGeom>
          <a:noFill/>
        </p:spPr>
        <p:txBody>
          <a:bodyPr wrap="none" rtlCol="0">
            <a:spAutoFit/>
          </a:bodyPr>
          <a:lstStyle/>
          <a:p>
            <a:pPr algn="ctr"/>
            <a:r>
              <a:rPr kumimoji="1" lang="ja-JP" altLang="en-US" dirty="0"/>
              <a:t>年齢別の投資率</a:t>
            </a:r>
            <a:endParaRPr kumimoji="1" lang="en-US" altLang="ja-JP" dirty="0"/>
          </a:p>
          <a:p>
            <a:r>
              <a:rPr kumimoji="1" lang="en-US" altLang="ja-JP" dirty="0"/>
              <a:t>XYZ</a:t>
            </a:r>
            <a:r>
              <a:rPr kumimoji="1" lang="ja-JP" altLang="en-US" dirty="0"/>
              <a:t>銀行において投資をしている人の割合</a:t>
            </a:r>
            <a:endParaRPr kumimoji="1" lang="en-US" altLang="ja-JP" dirty="0"/>
          </a:p>
          <a:p>
            <a:r>
              <a:rPr lang="ja-JP" altLang="en-US" dirty="0"/>
              <a:t>一番高い割合でも</a:t>
            </a:r>
            <a:r>
              <a:rPr lang="en-US" altLang="ja-JP" dirty="0"/>
              <a:t>25</a:t>
            </a:r>
            <a:r>
              <a:rPr lang="ja-JP" altLang="en-US" dirty="0"/>
              <a:t>％以下と伸びしろあり</a:t>
            </a:r>
            <a:endParaRPr kumimoji="1" lang="ja-JP" altLang="en-US" dirty="0"/>
          </a:p>
        </p:txBody>
      </p:sp>
      <p:pic>
        <p:nvPicPr>
          <p:cNvPr id="33" name="図 32">
            <a:extLst>
              <a:ext uri="{FF2B5EF4-FFF2-40B4-BE49-F238E27FC236}">
                <a16:creationId xmlns:a16="http://schemas.microsoft.com/office/drawing/2014/main" id="{53BE2584-E097-F63C-CA67-291F8FB0939B}"/>
              </a:ext>
            </a:extLst>
          </p:cNvPr>
          <p:cNvPicPr>
            <a:picLocks noChangeAspect="1"/>
          </p:cNvPicPr>
          <p:nvPr/>
        </p:nvPicPr>
        <p:blipFill>
          <a:blip r:embed="rId4"/>
          <a:stretch>
            <a:fillRect/>
          </a:stretch>
        </p:blipFill>
        <p:spPr>
          <a:xfrm>
            <a:off x="6307273" y="4687842"/>
            <a:ext cx="5086611" cy="1778091"/>
          </a:xfrm>
          <a:prstGeom prst="rect">
            <a:avLst/>
          </a:prstGeom>
        </p:spPr>
      </p:pic>
      <p:sp>
        <p:nvSpPr>
          <p:cNvPr id="34" name="テキスト ボックス 33">
            <a:extLst>
              <a:ext uri="{FF2B5EF4-FFF2-40B4-BE49-F238E27FC236}">
                <a16:creationId xmlns:a16="http://schemas.microsoft.com/office/drawing/2014/main" id="{6A4A16D9-AC82-4941-4CCD-80A879CBE55F}"/>
              </a:ext>
            </a:extLst>
          </p:cNvPr>
          <p:cNvSpPr txBox="1"/>
          <p:nvPr/>
        </p:nvSpPr>
        <p:spPr>
          <a:xfrm>
            <a:off x="7424928" y="6413852"/>
            <a:ext cx="3488455" cy="369332"/>
          </a:xfrm>
          <a:prstGeom prst="rect">
            <a:avLst/>
          </a:prstGeom>
          <a:noFill/>
        </p:spPr>
        <p:txBody>
          <a:bodyPr wrap="none" rtlCol="0">
            <a:spAutoFit/>
          </a:bodyPr>
          <a:lstStyle/>
          <a:p>
            <a:r>
              <a:rPr lang="ja-JP" altLang="en-US" dirty="0"/>
              <a:t>投資信託、</a:t>
            </a:r>
            <a:r>
              <a:rPr lang="en-US" altLang="ja-JP" dirty="0"/>
              <a:t>NISA</a:t>
            </a:r>
            <a:r>
              <a:rPr lang="ja-JP" altLang="en-US" dirty="0"/>
              <a:t>の有無と収益性</a:t>
            </a:r>
            <a:endParaRPr kumimoji="1" lang="ja-JP" altLang="en-US" dirty="0"/>
          </a:p>
        </p:txBody>
      </p:sp>
    </p:spTree>
    <p:extLst>
      <p:ext uri="{BB962C8B-B14F-4D97-AF65-F5344CB8AC3E}">
        <p14:creationId xmlns:p14="http://schemas.microsoft.com/office/powerpoint/2010/main" val="369123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9E572-FAA3-13A1-1BB8-D6BE2FAB15D5}"/>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B2564279-3661-7E48-E22C-C4109B0C1D4C}"/>
              </a:ext>
            </a:extLst>
          </p:cNvPr>
          <p:cNvSpPr/>
          <p:nvPr/>
        </p:nvSpPr>
        <p:spPr>
          <a:xfrm>
            <a:off x="0" y="0"/>
            <a:ext cx="12192000" cy="99669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5400" dirty="0"/>
              <a:t>仮説</a:t>
            </a:r>
            <a:endParaRPr kumimoji="1" lang="en-US" altLang="ja-JP" sz="5400" dirty="0"/>
          </a:p>
        </p:txBody>
      </p:sp>
      <p:sp>
        <p:nvSpPr>
          <p:cNvPr id="5" name="テキスト ボックス 4">
            <a:extLst>
              <a:ext uri="{FF2B5EF4-FFF2-40B4-BE49-F238E27FC236}">
                <a16:creationId xmlns:a16="http://schemas.microsoft.com/office/drawing/2014/main" id="{E6CE632F-6DBA-943B-63E8-4CCE0664D7B2}"/>
              </a:ext>
            </a:extLst>
          </p:cNvPr>
          <p:cNvSpPr txBox="1"/>
          <p:nvPr/>
        </p:nvSpPr>
        <p:spPr>
          <a:xfrm>
            <a:off x="511476" y="1246037"/>
            <a:ext cx="5314275" cy="707886"/>
          </a:xfrm>
          <a:prstGeom prst="rect">
            <a:avLst/>
          </a:prstGeom>
          <a:noFill/>
        </p:spPr>
        <p:txBody>
          <a:bodyPr wrap="none" rtlCol="0">
            <a:spAutoFit/>
          </a:bodyPr>
          <a:lstStyle/>
          <a:p>
            <a:r>
              <a:rPr lang="ja-JP" altLang="en-US" sz="4000" b="1" dirty="0"/>
              <a:t>何故投資をしないのか</a:t>
            </a:r>
            <a:endParaRPr kumimoji="1" lang="ja-JP" altLang="en-US" sz="4000" b="1" dirty="0"/>
          </a:p>
        </p:txBody>
      </p:sp>
      <p:sp>
        <p:nvSpPr>
          <p:cNvPr id="7" name="テキスト ボックス 6">
            <a:extLst>
              <a:ext uri="{FF2B5EF4-FFF2-40B4-BE49-F238E27FC236}">
                <a16:creationId xmlns:a16="http://schemas.microsoft.com/office/drawing/2014/main" id="{7D2E45B4-9679-3970-F7AD-F2DF89BEED07}"/>
              </a:ext>
            </a:extLst>
          </p:cNvPr>
          <p:cNvSpPr txBox="1"/>
          <p:nvPr/>
        </p:nvSpPr>
        <p:spPr>
          <a:xfrm>
            <a:off x="511476" y="2475131"/>
            <a:ext cx="8705676" cy="4278094"/>
          </a:xfrm>
          <a:prstGeom prst="rect">
            <a:avLst/>
          </a:prstGeom>
          <a:noFill/>
        </p:spPr>
        <p:txBody>
          <a:bodyPr wrap="square" rtlCol="0">
            <a:spAutoFit/>
          </a:bodyPr>
          <a:lstStyle/>
          <a:p>
            <a:r>
              <a:rPr kumimoji="1" lang="ja-JP" altLang="en-US" sz="4000" dirty="0"/>
              <a:t>・</a:t>
            </a:r>
            <a:r>
              <a:rPr kumimoji="1" lang="en-US" altLang="ja-JP" sz="4000" dirty="0"/>
              <a:t> </a:t>
            </a:r>
            <a:r>
              <a:rPr kumimoji="1" lang="ja-JP" altLang="en-US" sz="4000" dirty="0"/>
              <a:t>資産の余力不足</a:t>
            </a:r>
            <a:endParaRPr kumimoji="1" lang="en-US" altLang="ja-JP" sz="4000" dirty="0"/>
          </a:p>
          <a:p>
            <a:endParaRPr kumimoji="1" lang="en-US" altLang="ja-JP" dirty="0"/>
          </a:p>
          <a:p>
            <a:r>
              <a:rPr lang="ja-JP" altLang="en-US" sz="4000" dirty="0"/>
              <a:t>・</a:t>
            </a:r>
            <a:r>
              <a:rPr lang="en-US" altLang="ja-JP" sz="4000" dirty="0"/>
              <a:t> </a:t>
            </a:r>
            <a:r>
              <a:rPr lang="ja-JP" altLang="en-US" sz="4000" dirty="0"/>
              <a:t>リスク回避</a:t>
            </a:r>
            <a:endParaRPr lang="en-US" altLang="ja-JP" sz="4000" dirty="0"/>
          </a:p>
          <a:p>
            <a:endParaRPr lang="en-US" altLang="ja-JP" dirty="0"/>
          </a:p>
          <a:p>
            <a:r>
              <a:rPr kumimoji="1" lang="ja-JP" altLang="en-US" sz="4000" dirty="0"/>
              <a:t>・ 金融・情報リテラシー不足</a:t>
            </a:r>
            <a:endParaRPr lang="en-US" altLang="ja-JP" sz="4000" dirty="0"/>
          </a:p>
          <a:p>
            <a:endParaRPr lang="en-US" altLang="ja-JP" dirty="0"/>
          </a:p>
          <a:p>
            <a:r>
              <a:rPr lang="ja-JP" altLang="en-US" sz="4000" dirty="0"/>
              <a:t>・ メインバンクではない</a:t>
            </a:r>
            <a:endParaRPr lang="en-US" altLang="ja-JP" sz="4000" dirty="0"/>
          </a:p>
          <a:p>
            <a:endParaRPr lang="en-US" altLang="ja-JP" dirty="0"/>
          </a:p>
          <a:p>
            <a:endParaRPr kumimoji="1" lang="ja-JP" altLang="en-US" sz="4000" dirty="0"/>
          </a:p>
        </p:txBody>
      </p:sp>
      <p:sp>
        <p:nvSpPr>
          <p:cNvPr id="2" name="矢印: 下 1">
            <a:extLst>
              <a:ext uri="{FF2B5EF4-FFF2-40B4-BE49-F238E27FC236}">
                <a16:creationId xmlns:a16="http://schemas.microsoft.com/office/drawing/2014/main" id="{455CD260-4863-0D0D-67A1-EB9FC581CAE0}"/>
              </a:ext>
            </a:extLst>
          </p:cNvPr>
          <p:cNvSpPr/>
          <p:nvPr/>
        </p:nvSpPr>
        <p:spPr>
          <a:xfrm rot="3968077">
            <a:off x="6766560" y="2939796"/>
            <a:ext cx="484632" cy="978408"/>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B29AE8AE-A8A4-9830-EAA5-10F9A7AEC9A5}"/>
              </a:ext>
            </a:extLst>
          </p:cNvPr>
          <p:cNvSpPr txBox="1"/>
          <p:nvPr/>
        </p:nvSpPr>
        <p:spPr>
          <a:xfrm>
            <a:off x="7242048" y="2475131"/>
            <a:ext cx="4669868" cy="461665"/>
          </a:xfrm>
          <a:prstGeom prst="rect">
            <a:avLst/>
          </a:prstGeom>
          <a:noFill/>
        </p:spPr>
        <p:txBody>
          <a:bodyPr wrap="none" rtlCol="0">
            <a:spAutoFit/>
          </a:bodyPr>
          <a:lstStyle/>
          <a:p>
            <a:r>
              <a:rPr lang="ja-JP" altLang="en-US" sz="2400" b="1" dirty="0"/>
              <a:t>この</a:t>
            </a:r>
            <a:r>
              <a:rPr lang="en-US" altLang="ja-JP" sz="2400" b="1" dirty="0"/>
              <a:t>4</a:t>
            </a:r>
            <a:r>
              <a:rPr lang="ja-JP" altLang="en-US" sz="2400" b="1" dirty="0"/>
              <a:t>つの仮説を基に考察します</a:t>
            </a:r>
            <a:endParaRPr kumimoji="1" lang="ja-JP" altLang="en-US" sz="2400" b="1" dirty="0"/>
          </a:p>
        </p:txBody>
      </p:sp>
    </p:spTree>
    <p:extLst>
      <p:ext uri="{BB962C8B-B14F-4D97-AF65-F5344CB8AC3E}">
        <p14:creationId xmlns:p14="http://schemas.microsoft.com/office/powerpoint/2010/main" val="1105380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0B0E2-5EF3-EAF9-6C61-F1049DFC70F9}"/>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C0435E59-8259-0730-6E72-F22CCC29E874}"/>
              </a:ext>
            </a:extLst>
          </p:cNvPr>
          <p:cNvSpPr/>
          <p:nvPr/>
        </p:nvSpPr>
        <p:spPr>
          <a:xfrm>
            <a:off x="0" y="0"/>
            <a:ext cx="12192000" cy="99669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5400" dirty="0"/>
              <a:t>分析内容</a:t>
            </a:r>
            <a:endParaRPr kumimoji="1" lang="ja-JP" altLang="en-US" sz="5400" dirty="0"/>
          </a:p>
        </p:txBody>
      </p:sp>
      <p:sp>
        <p:nvSpPr>
          <p:cNvPr id="7" name="テキスト ボックス 6">
            <a:extLst>
              <a:ext uri="{FF2B5EF4-FFF2-40B4-BE49-F238E27FC236}">
                <a16:creationId xmlns:a16="http://schemas.microsoft.com/office/drawing/2014/main" id="{04A04CA2-D2DE-D93E-939B-A7161DE54B22}"/>
              </a:ext>
            </a:extLst>
          </p:cNvPr>
          <p:cNvSpPr txBox="1"/>
          <p:nvPr/>
        </p:nvSpPr>
        <p:spPr>
          <a:xfrm>
            <a:off x="0" y="1167539"/>
            <a:ext cx="7434072" cy="646331"/>
          </a:xfrm>
          <a:prstGeom prst="rect">
            <a:avLst/>
          </a:prstGeom>
          <a:noFill/>
        </p:spPr>
        <p:txBody>
          <a:bodyPr wrap="square" rtlCol="0">
            <a:spAutoFit/>
          </a:bodyPr>
          <a:lstStyle/>
          <a:p>
            <a:r>
              <a:rPr kumimoji="1" lang="ja-JP" altLang="en-US" sz="3600" b="1" dirty="0"/>
              <a:t>・資産の余力不足</a:t>
            </a:r>
            <a:endParaRPr lang="en-US" altLang="ja-JP" sz="3600" b="1" dirty="0"/>
          </a:p>
        </p:txBody>
      </p:sp>
      <p:sp>
        <p:nvSpPr>
          <p:cNvPr id="3" name="テキスト ボックス 2">
            <a:extLst>
              <a:ext uri="{FF2B5EF4-FFF2-40B4-BE49-F238E27FC236}">
                <a16:creationId xmlns:a16="http://schemas.microsoft.com/office/drawing/2014/main" id="{6666FB31-3F63-92FC-8C51-D5E7975FB64A}"/>
              </a:ext>
            </a:extLst>
          </p:cNvPr>
          <p:cNvSpPr txBox="1"/>
          <p:nvPr/>
        </p:nvSpPr>
        <p:spPr>
          <a:xfrm>
            <a:off x="0" y="2367724"/>
            <a:ext cx="6208776" cy="646331"/>
          </a:xfrm>
          <a:prstGeom prst="rect">
            <a:avLst/>
          </a:prstGeom>
          <a:noFill/>
        </p:spPr>
        <p:txBody>
          <a:bodyPr wrap="square">
            <a:spAutoFit/>
          </a:bodyPr>
          <a:lstStyle/>
          <a:p>
            <a:r>
              <a:rPr lang="ja-JP" altLang="en-US" sz="3600" b="1" dirty="0"/>
              <a:t>・リスク回避</a:t>
            </a:r>
            <a:endParaRPr lang="en-US" altLang="ja-JP" sz="3600" b="1" dirty="0"/>
          </a:p>
        </p:txBody>
      </p:sp>
      <p:sp>
        <p:nvSpPr>
          <p:cNvPr id="6" name="テキスト ボックス 5">
            <a:extLst>
              <a:ext uri="{FF2B5EF4-FFF2-40B4-BE49-F238E27FC236}">
                <a16:creationId xmlns:a16="http://schemas.microsoft.com/office/drawing/2014/main" id="{8AE6D805-E060-4BED-E570-AA435C9CFB90}"/>
              </a:ext>
            </a:extLst>
          </p:cNvPr>
          <p:cNvSpPr txBox="1"/>
          <p:nvPr/>
        </p:nvSpPr>
        <p:spPr>
          <a:xfrm>
            <a:off x="-112776" y="3567909"/>
            <a:ext cx="6208776" cy="646331"/>
          </a:xfrm>
          <a:prstGeom prst="rect">
            <a:avLst/>
          </a:prstGeom>
          <a:noFill/>
        </p:spPr>
        <p:txBody>
          <a:bodyPr wrap="square">
            <a:spAutoFit/>
          </a:bodyPr>
          <a:lstStyle/>
          <a:p>
            <a:r>
              <a:rPr kumimoji="1" lang="ja-JP" altLang="en-US" sz="3600" b="1" dirty="0"/>
              <a:t>・金融・情報リテラシー不足</a:t>
            </a:r>
            <a:endParaRPr lang="en-US" altLang="ja-JP" sz="3600" b="1" dirty="0"/>
          </a:p>
        </p:txBody>
      </p:sp>
      <p:sp>
        <p:nvSpPr>
          <p:cNvPr id="9" name="テキスト ボックス 8">
            <a:extLst>
              <a:ext uri="{FF2B5EF4-FFF2-40B4-BE49-F238E27FC236}">
                <a16:creationId xmlns:a16="http://schemas.microsoft.com/office/drawing/2014/main" id="{31D90D17-7D8F-DBBF-AD98-83EE0E21BEA3}"/>
              </a:ext>
            </a:extLst>
          </p:cNvPr>
          <p:cNvSpPr txBox="1"/>
          <p:nvPr/>
        </p:nvSpPr>
        <p:spPr>
          <a:xfrm>
            <a:off x="0" y="4768094"/>
            <a:ext cx="6208776" cy="646331"/>
          </a:xfrm>
          <a:prstGeom prst="rect">
            <a:avLst/>
          </a:prstGeom>
          <a:noFill/>
        </p:spPr>
        <p:txBody>
          <a:bodyPr wrap="square">
            <a:spAutoFit/>
          </a:bodyPr>
          <a:lstStyle/>
          <a:p>
            <a:r>
              <a:rPr lang="ja-JP" altLang="en-US" sz="3600" b="1" dirty="0"/>
              <a:t>・メインバンクではない</a:t>
            </a:r>
            <a:endParaRPr lang="en-US" altLang="ja-JP" sz="3600" b="1" dirty="0"/>
          </a:p>
        </p:txBody>
      </p:sp>
      <p:sp>
        <p:nvSpPr>
          <p:cNvPr id="10" name="テキスト ボックス 9">
            <a:extLst>
              <a:ext uri="{FF2B5EF4-FFF2-40B4-BE49-F238E27FC236}">
                <a16:creationId xmlns:a16="http://schemas.microsoft.com/office/drawing/2014/main" id="{33735854-4568-A5B3-8F70-8B120949D9F6}"/>
              </a:ext>
            </a:extLst>
          </p:cNvPr>
          <p:cNvSpPr txBox="1"/>
          <p:nvPr/>
        </p:nvSpPr>
        <p:spPr>
          <a:xfrm>
            <a:off x="484632" y="1813870"/>
            <a:ext cx="5955476" cy="646331"/>
          </a:xfrm>
          <a:prstGeom prst="rect">
            <a:avLst/>
          </a:prstGeom>
          <a:noFill/>
        </p:spPr>
        <p:txBody>
          <a:bodyPr wrap="none" rtlCol="0">
            <a:spAutoFit/>
          </a:bodyPr>
          <a:lstStyle/>
          <a:p>
            <a:r>
              <a:rPr kumimoji="1" lang="ja-JP" altLang="en-US" dirty="0"/>
              <a:t>現状分析：口座引き落としの成功失敗と投資率の比較</a:t>
            </a:r>
            <a:endParaRPr kumimoji="1" lang="en-US" altLang="ja-JP" dirty="0"/>
          </a:p>
          <a:p>
            <a:r>
              <a:rPr lang="ja-JP" altLang="en-US" dirty="0"/>
              <a:t>将来分析：現状のローンの状況と将来投信始めるか比較</a:t>
            </a:r>
            <a:endParaRPr kumimoji="1" lang="ja-JP" altLang="en-US" dirty="0"/>
          </a:p>
        </p:txBody>
      </p:sp>
      <p:sp>
        <p:nvSpPr>
          <p:cNvPr id="11" name="テキスト ボックス 10">
            <a:extLst>
              <a:ext uri="{FF2B5EF4-FFF2-40B4-BE49-F238E27FC236}">
                <a16:creationId xmlns:a16="http://schemas.microsoft.com/office/drawing/2014/main" id="{AB773C45-9269-C16F-3D0A-1DBA21B33DA2}"/>
              </a:ext>
            </a:extLst>
          </p:cNvPr>
          <p:cNvSpPr txBox="1"/>
          <p:nvPr/>
        </p:nvSpPr>
        <p:spPr>
          <a:xfrm>
            <a:off x="484632" y="2967817"/>
            <a:ext cx="5724644" cy="646331"/>
          </a:xfrm>
          <a:prstGeom prst="rect">
            <a:avLst/>
          </a:prstGeom>
          <a:noFill/>
        </p:spPr>
        <p:txBody>
          <a:bodyPr wrap="none" rtlCol="0">
            <a:spAutoFit/>
          </a:bodyPr>
          <a:lstStyle/>
          <a:p>
            <a:r>
              <a:rPr kumimoji="1" lang="ja-JP" altLang="en-US" dirty="0"/>
              <a:t>現状分析：定期預金者とそうでないものと投資率比較</a:t>
            </a:r>
            <a:endParaRPr kumimoji="1" lang="en-US" altLang="ja-JP" dirty="0"/>
          </a:p>
          <a:p>
            <a:r>
              <a:rPr kumimoji="1" lang="ja-JP" altLang="en-US" dirty="0"/>
              <a:t>将来分析：口座取引年数と将来投信はじめるか比較</a:t>
            </a:r>
          </a:p>
        </p:txBody>
      </p:sp>
      <p:sp>
        <p:nvSpPr>
          <p:cNvPr id="12" name="テキスト ボックス 11">
            <a:extLst>
              <a:ext uri="{FF2B5EF4-FFF2-40B4-BE49-F238E27FC236}">
                <a16:creationId xmlns:a16="http://schemas.microsoft.com/office/drawing/2014/main" id="{354DD980-2AD5-98D9-189A-96EA28C86120}"/>
              </a:ext>
            </a:extLst>
          </p:cNvPr>
          <p:cNvSpPr txBox="1"/>
          <p:nvPr/>
        </p:nvSpPr>
        <p:spPr>
          <a:xfrm>
            <a:off x="420624" y="4214240"/>
            <a:ext cx="5032147" cy="646331"/>
          </a:xfrm>
          <a:prstGeom prst="rect">
            <a:avLst/>
          </a:prstGeom>
          <a:noFill/>
        </p:spPr>
        <p:txBody>
          <a:bodyPr wrap="none" rtlCol="0">
            <a:spAutoFit/>
          </a:bodyPr>
          <a:lstStyle/>
          <a:p>
            <a:r>
              <a:rPr kumimoji="1" lang="ja-JP" altLang="en-US" dirty="0"/>
              <a:t>現状分析：アプリの利用率と投資率の比較</a:t>
            </a:r>
            <a:endParaRPr kumimoji="1" lang="en-US" altLang="ja-JP" dirty="0"/>
          </a:p>
          <a:p>
            <a:r>
              <a:rPr lang="ja-JP" altLang="en-US" dirty="0"/>
              <a:t>将来分析：アプリの利用率と将来投資率に比較</a:t>
            </a:r>
            <a:endParaRPr kumimoji="1" lang="ja-JP" altLang="en-US" dirty="0"/>
          </a:p>
        </p:txBody>
      </p:sp>
      <p:sp>
        <p:nvSpPr>
          <p:cNvPr id="13" name="テキスト ボックス 12">
            <a:extLst>
              <a:ext uri="{FF2B5EF4-FFF2-40B4-BE49-F238E27FC236}">
                <a16:creationId xmlns:a16="http://schemas.microsoft.com/office/drawing/2014/main" id="{3597C171-7EE6-92F5-5264-D3FB8C95A009}"/>
              </a:ext>
            </a:extLst>
          </p:cNvPr>
          <p:cNvSpPr txBox="1"/>
          <p:nvPr/>
        </p:nvSpPr>
        <p:spPr>
          <a:xfrm>
            <a:off x="420624" y="5444071"/>
            <a:ext cx="7802136" cy="646331"/>
          </a:xfrm>
          <a:prstGeom prst="rect">
            <a:avLst/>
          </a:prstGeom>
          <a:noFill/>
        </p:spPr>
        <p:txBody>
          <a:bodyPr wrap="none" rtlCol="0">
            <a:spAutoFit/>
          </a:bodyPr>
          <a:lstStyle/>
          <a:p>
            <a:r>
              <a:rPr kumimoji="1" lang="ja-JP" altLang="en-US" dirty="0"/>
              <a:t>現状分析：給与年金口座かどうかと投資しているかどうかの比較</a:t>
            </a:r>
            <a:endParaRPr kumimoji="1" lang="en-US" altLang="ja-JP" dirty="0"/>
          </a:p>
          <a:p>
            <a:r>
              <a:rPr lang="ja-JP" altLang="en-US" dirty="0"/>
              <a:t>将来分析：給与年金口座かどうかと将来投資をしているかどうかの比較</a:t>
            </a:r>
            <a:endParaRPr kumimoji="1" lang="ja-JP" altLang="en-US" dirty="0"/>
          </a:p>
        </p:txBody>
      </p:sp>
    </p:spTree>
    <p:extLst>
      <p:ext uri="{BB962C8B-B14F-4D97-AF65-F5344CB8AC3E}">
        <p14:creationId xmlns:p14="http://schemas.microsoft.com/office/powerpoint/2010/main" val="3500820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25D6C908-02DE-9FD5-25E7-331EE0E88562}"/>
              </a:ext>
            </a:extLst>
          </p:cNvPr>
          <p:cNvSpPr/>
          <p:nvPr/>
        </p:nvSpPr>
        <p:spPr>
          <a:xfrm>
            <a:off x="0" y="0"/>
            <a:ext cx="12192000" cy="99669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5400" dirty="0"/>
              <a:t>分析上の注意</a:t>
            </a:r>
          </a:p>
        </p:txBody>
      </p:sp>
      <p:sp>
        <p:nvSpPr>
          <p:cNvPr id="5" name="テキスト ボックス 4">
            <a:extLst>
              <a:ext uri="{FF2B5EF4-FFF2-40B4-BE49-F238E27FC236}">
                <a16:creationId xmlns:a16="http://schemas.microsoft.com/office/drawing/2014/main" id="{E275D84C-1F2F-48EB-9077-125961A73212}"/>
              </a:ext>
            </a:extLst>
          </p:cNvPr>
          <p:cNvSpPr txBox="1"/>
          <p:nvPr/>
        </p:nvSpPr>
        <p:spPr>
          <a:xfrm>
            <a:off x="0" y="1864019"/>
            <a:ext cx="13027925" cy="3877985"/>
          </a:xfrm>
          <a:prstGeom prst="rect">
            <a:avLst/>
          </a:prstGeom>
          <a:noFill/>
        </p:spPr>
        <p:txBody>
          <a:bodyPr wrap="none" rtlCol="0">
            <a:spAutoFit/>
          </a:bodyPr>
          <a:lstStyle/>
          <a:p>
            <a:r>
              <a:rPr lang="ja-JP" altLang="en-US" sz="3200" b="1" dirty="0"/>
              <a:t>・今回の分析では、主に </a:t>
            </a:r>
            <a:r>
              <a:rPr lang="en-US" altLang="ja-JP" sz="3200" b="1" dirty="0"/>
              <a:t>18 </a:t>
            </a:r>
            <a:r>
              <a:rPr lang="ja-JP" altLang="en-US" sz="3200" b="1" dirty="0"/>
              <a:t>歳以上が対象なのでそれ以下の</a:t>
            </a:r>
            <a:endParaRPr lang="en-US" altLang="ja-JP" sz="3200" b="1" dirty="0"/>
          </a:p>
          <a:p>
            <a:r>
              <a:rPr lang="ja-JP" altLang="en-US" sz="3200" b="1" dirty="0"/>
              <a:t>　年齢については全てのデータで削除されている</a:t>
            </a:r>
            <a:endParaRPr kumimoji="1" lang="en-US" altLang="ja-JP" sz="3200" b="1" dirty="0"/>
          </a:p>
          <a:p>
            <a:endParaRPr lang="en-US" altLang="ja-JP" sz="3200" b="1" dirty="0"/>
          </a:p>
          <a:p>
            <a:r>
              <a:rPr kumimoji="1" lang="ja-JP" altLang="en-US" sz="3200" b="1" dirty="0"/>
              <a:t>・現状においての母集団は随時説明</a:t>
            </a:r>
            <a:endParaRPr kumimoji="1" lang="en-US" altLang="ja-JP" sz="3200" b="1" dirty="0"/>
          </a:p>
          <a:p>
            <a:endParaRPr lang="en-US" altLang="ja-JP" sz="3200" b="1" dirty="0"/>
          </a:p>
          <a:p>
            <a:r>
              <a:rPr kumimoji="1" lang="ja-JP" altLang="en-US" sz="3200" b="1" dirty="0"/>
              <a:t>・将来地点の母集団は投資し始めた人のなので全て</a:t>
            </a:r>
            <a:r>
              <a:rPr kumimoji="1" lang="en-US" altLang="ja-JP" sz="3200" b="1" dirty="0"/>
              <a:t>4024</a:t>
            </a:r>
            <a:r>
              <a:rPr kumimoji="1" lang="ja-JP" altLang="en-US" sz="3200" b="1" dirty="0"/>
              <a:t>人である。</a:t>
            </a:r>
            <a:endParaRPr lang="en-US" altLang="ja-JP" sz="3200" b="1" dirty="0"/>
          </a:p>
          <a:p>
            <a:endParaRPr kumimoji="1" lang="en-US" altLang="ja-JP" dirty="0"/>
          </a:p>
          <a:p>
            <a:endParaRPr lang="en-US" altLang="ja-JP" dirty="0"/>
          </a:p>
          <a:p>
            <a:endParaRPr kumimoji="1" lang="ja-JP" altLang="en-US" dirty="0"/>
          </a:p>
        </p:txBody>
      </p:sp>
    </p:spTree>
    <p:extLst>
      <p:ext uri="{BB962C8B-B14F-4D97-AF65-F5344CB8AC3E}">
        <p14:creationId xmlns:p14="http://schemas.microsoft.com/office/powerpoint/2010/main" val="3292405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80549-9F23-0B4A-1C7C-D2BBE8198842}"/>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7C412726-933E-8624-F941-0096330F977D}"/>
              </a:ext>
            </a:extLst>
          </p:cNvPr>
          <p:cNvSpPr/>
          <p:nvPr/>
        </p:nvSpPr>
        <p:spPr>
          <a:xfrm>
            <a:off x="0" y="0"/>
            <a:ext cx="12192000" cy="99669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5400" dirty="0"/>
              <a:t>資産余力不足について</a:t>
            </a:r>
            <a:endParaRPr kumimoji="1" lang="ja-JP" altLang="en-US" sz="5400" dirty="0"/>
          </a:p>
        </p:txBody>
      </p:sp>
      <p:pic>
        <p:nvPicPr>
          <p:cNvPr id="6" name="図 5" descr="グラフ, 棒グラフ&#10;&#10;AI 生成コンテンツは誤りを含む可能性があります。">
            <a:extLst>
              <a:ext uri="{FF2B5EF4-FFF2-40B4-BE49-F238E27FC236}">
                <a16:creationId xmlns:a16="http://schemas.microsoft.com/office/drawing/2014/main" id="{894FFA85-A971-A64F-B8FA-D4F3996355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2768" y="1210710"/>
            <a:ext cx="3697150" cy="2218290"/>
          </a:xfrm>
          <a:prstGeom prst="rect">
            <a:avLst/>
          </a:prstGeom>
        </p:spPr>
      </p:pic>
      <p:pic>
        <p:nvPicPr>
          <p:cNvPr id="8" name="図 7" descr="グラフ, 棒グラフ&#10;&#10;AI 生成コンテンツは誤りを含む可能性があります。">
            <a:extLst>
              <a:ext uri="{FF2B5EF4-FFF2-40B4-BE49-F238E27FC236}">
                <a16:creationId xmlns:a16="http://schemas.microsoft.com/office/drawing/2014/main" id="{6D5E9807-89C9-B878-789F-7D1363A843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2768" y="4101824"/>
            <a:ext cx="3697150" cy="2218290"/>
          </a:xfrm>
          <a:prstGeom prst="rect">
            <a:avLst/>
          </a:prstGeom>
        </p:spPr>
      </p:pic>
      <p:cxnSp>
        <p:nvCxnSpPr>
          <p:cNvPr id="10" name="直線コネクタ 9">
            <a:extLst>
              <a:ext uri="{FF2B5EF4-FFF2-40B4-BE49-F238E27FC236}">
                <a16:creationId xmlns:a16="http://schemas.microsoft.com/office/drawing/2014/main" id="{E57CCD0B-9C6E-3707-C18F-7A693E84C22E}"/>
              </a:ext>
            </a:extLst>
          </p:cNvPr>
          <p:cNvCxnSpPr>
            <a:cxnSpLocks/>
          </p:cNvCxnSpPr>
          <p:nvPr/>
        </p:nvCxnSpPr>
        <p:spPr>
          <a:xfrm>
            <a:off x="6096000" y="1179576"/>
            <a:ext cx="0" cy="5285232"/>
          </a:xfrm>
          <a:prstGeom prst="line">
            <a:avLst/>
          </a:prstGeom>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C70E1A3A-01A1-42D7-B01C-3D10267DFEBB}"/>
              </a:ext>
            </a:extLst>
          </p:cNvPr>
          <p:cNvSpPr txBox="1"/>
          <p:nvPr/>
        </p:nvSpPr>
        <p:spPr>
          <a:xfrm>
            <a:off x="0" y="1289304"/>
            <a:ext cx="2468880" cy="646331"/>
          </a:xfrm>
          <a:prstGeom prst="rect">
            <a:avLst/>
          </a:prstGeom>
          <a:noFill/>
        </p:spPr>
        <p:txBody>
          <a:bodyPr wrap="square" rtlCol="0">
            <a:spAutoFit/>
          </a:bodyPr>
          <a:lstStyle/>
          <a:p>
            <a:r>
              <a:rPr lang="ja-JP" altLang="en-US" sz="3600" dirty="0"/>
              <a:t>現状分析</a:t>
            </a:r>
            <a:endParaRPr kumimoji="1" lang="ja-JP" altLang="en-US" sz="3600" dirty="0"/>
          </a:p>
        </p:txBody>
      </p:sp>
      <p:pic>
        <p:nvPicPr>
          <p:cNvPr id="15" name="図 14" descr="グラフ&#10;&#10;AI 生成コンテンツは誤りを含む可能性があります。">
            <a:extLst>
              <a:ext uri="{FF2B5EF4-FFF2-40B4-BE49-F238E27FC236}">
                <a16:creationId xmlns:a16="http://schemas.microsoft.com/office/drawing/2014/main" id="{168A6C75-4BB6-0631-E186-112327C8CD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62083" y="2489633"/>
            <a:ext cx="5715563" cy="3693064"/>
          </a:xfrm>
          <a:prstGeom prst="rect">
            <a:avLst/>
          </a:prstGeom>
        </p:spPr>
      </p:pic>
      <p:sp>
        <p:nvSpPr>
          <p:cNvPr id="17" name="テキスト ボックス 16">
            <a:extLst>
              <a:ext uri="{FF2B5EF4-FFF2-40B4-BE49-F238E27FC236}">
                <a16:creationId xmlns:a16="http://schemas.microsoft.com/office/drawing/2014/main" id="{E5699F9B-87DD-2FEB-7DA4-ADD47AE47383}"/>
              </a:ext>
            </a:extLst>
          </p:cNvPr>
          <p:cNvSpPr txBox="1"/>
          <p:nvPr/>
        </p:nvSpPr>
        <p:spPr>
          <a:xfrm>
            <a:off x="994326" y="3529351"/>
            <a:ext cx="4735592" cy="646331"/>
          </a:xfrm>
          <a:prstGeom prst="rect">
            <a:avLst/>
          </a:prstGeom>
          <a:noFill/>
        </p:spPr>
        <p:txBody>
          <a:bodyPr wrap="none" rtlCol="0">
            <a:spAutoFit/>
          </a:bodyPr>
          <a:lstStyle/>
          <a:p>
            <a:r>
              <a:rPr kumimoji="1" lang="ja-JP" altLang="en-US" dirty="0"/>
              <a:t>口座引き落としが成功した層の投資割合</a:t>
            </a:r>
            <a:endParaRPr kumimoji="1" lang="en-US" altLang="ja-JP" dirty="0"/>
          </a:p>
          <a:p>
            <a:r>
              <a:rPr kumimoji="1" lang="en-US" altLang="ja-JP" dirty="0"/>
              <a:t>n = 20555 (</a:t>
            </a:r>
            <a:r>
              <a:rPr kumimoji="1" lang="ja-JP" altLang="en-US" dirty="0"/>
              <a:t>母集団口座引き落とし可能な人</a:t>
            </a:r>
            <a:r>
              <a:rPr kumimoji="1" lang="en-US" altLang="ja-JP" dirty="0"/>
              <a:t>)</a:t>
            </a:r>
            <a:endParaRPr kumimoji="1" lang="ja-JP" altLang="en-US" dirty="0"/>
          </a:p>
        </p:txBody>
      </p:sp>
      <p:sp>
        <p:nvSpPr>
          <p:cNvPr id="18" name="テキスト ボックス 17">
            <a:extLst>
              <a:ext uri="{FF2B5EF4-FFF2-40B4-BE49-F238E27FC236}">
                <a16:creationId xmlns:a16="http://schemas.microsoft.com/office/drawing/2014/main" id="{9A3889EB-09DC-CDC5-F601-15313B05F86F}"/>
              </a:ext>
            </a:extLst>
          </p:cNvPr>
          <p:cNvSpPr txBox="1"/>
          <p:nvPr/>
        </p:nvSpPr>
        <p:spPr>
          <a:xfrm>
            <a:off x="1000362" y="6211669"/>
            <a:ext cx="4339650" cy="646331"/>
          </a:xfrm>
          <a:prstGeom prst="rect">
            <a:avLst/>
          </a:prstGeom>
          <a:noFill/>
        </p:spPr>
        <p:txBody>
          <a:bodyPr wrap="none" rtlCol="0">
            <a:spAutoFit/>
          </a:bodyPr>
          <a:lstStyle/>
          <a:p>
            <a:r>
              <a:rPr kumimoji="1" lang="ja-JP" altLang="en-US" dirty="0"/>
              <a:t>口座引き落としが失敗した層の投資割合</a:t>
            </a:r>
            <a:endParaRPr kumimoji="1" lang="en-US" altLang="ja-JP" dirty="0"/>
          </a:p>
          <a:p>
            <a:r>
              <a:rPr lang="en-US" altLang="ja-JP" dirty="0"/>
              <a:t>n = 509</a:t>
            </a:r>
            <a:r>
              <a:rPr lang="ja-JP" altLang="en-US" dirty="0"/>
              <a:t>（失敗した人々）</a:t>
            </a:r>
            <a:endParaRPr kumimoji="1" lang="ja-JP" altLang="en-US" dirty="0"/>
          </a:p>
        </p:txBody>
      </p:sp>
      <p:sp>
        <p:nvSpPr>
          <p:cNvPr id="19" name="テキスト ボックス 18">
            <a:extLst>
              <a:ext uri="{FF2B5EF4-FFF2-40B4-BE49-F238E27FC236}">
                <a16:creationId xmlns:a16="http://schemas.microsoft.com/office/drawing/2014/main" id="{EB1C2C90-112C-AC04-3E4D-038F12B3CBDA}"/>
              </a:ext>
            </a:extLst>
          </p:cNvPr>
          <p:cNvSpPr txBox="1"/>
          <p:nvPr/>
        </p:nvSpPr>
        <p:spPr>
          <a:xfrm>
            <a:off x="6919207" y="6280142"/>
            <a:ext cx="4801314" cy="369332"/>
          </a:xfrm>
          <a:prstGeom prst="rect">
            <a:avLst/>
          </a:prstGeom>
          <a:noFill/>
        </p:spPr>
        <p:txBody>
          <a:bodyPr wrap="none" rtlCol="0">
            <a:spAutoFit/>
          </a:bodyPr>
          <a:lstStyle/>
          <a:p>
            <a:r>
              <a:rPr lang="ja-JP" altLang="en-US" dirty="0"/>
              <a:t>現状のローンの数と量の合算と将来投資割合</a:t>
            </a:r>
            <a:endParaRPr kumimoji="1" lang="ja-JP" altLang="en-US" dirty="0"/>
          </a:p>
        </p:txBody>
      </p:sp>
      <p:sp>
        <p:nvSpPr>
          <p:cNvPr id="20" name="テキスト ボックス 19">
            <a:extLst>
              <a:ext uri="{FF2B5EF4-FFF2-40B4-BE49-F238E27FC236}">
                <a16:creationId xmlns:a16="http://schemas.microsoft.com/office/drawing/2014/main" id="{522719EE-A30F-ED0F-9B56-DEEF82F383E6}"/>
              </a:ext>
            </a:extLst>
          </p:cNvPr>
          <p:cNvSpPr txBox="1"/>
          <p:nvPr/>
        </p:nvSpPr>
        <p:spPr>
          <a:xfrm>
            <a:off x="6116771" y="1247424"/>
            <a:ext cx="2067107" cy="1200329"/>
          </a:xfrm>
          <a:prstGeom prst="rect">
            <a:avLst/>
          </a:prstGeom>
          <a:noFill/>
        </p:spPr>
        <p:txBody>
          <a:bodyPr wrap="square" rtlCol="0">
            <a:spAutoFit/>
          </a:bodyPr>
          <a:lstStyle/>
          <a:p>
            <a:r>
              <a:rPr kumimoji="1" lang="ja-JP" altLang="en-US" sz="3600" dirty="0"/>
              <a:t>将来地点分析</a:t>
            </a:r>
          </a:p>
        </p:txBody>
      </p:sp>
      <p:sp>
        <p:nvSpPr>
          <p:cNvPr id="21" name="テキスト ボックス 20">
            <a:extLst>
              <a:ext uri="{FF2B5EF4-FFF2-40B4-BE49-F238E27FC236}">
                <a16:creationId xmlns:a16="http://schemas.microsoft.com/office/drawing/2014/main" id="{CE4E9CEB-05A6-3496-DBFF-7666086C7B19}"/>
              </a:ext>
            </a:extLst>
          </p:cNvPr>
          <p:cNvSpPr txBox="1"/>
          <p:nvPr/>
        </p:nvSpPr>
        <p:spPr>
          <a:xfrm>
            <a:off x="137160" y="1995262"/>
            <a:ext cx="1569660" cy="646331"/>
          </a:xfrm>
          <a:prstGeom prst="rect">
            <a:avLst/>
          </a:prstGeom>
          <a:noFill/>
        </p:spPr>
        <p:txBody>
          <a:bodyPr wrap="none" rtlCol="0">
            <a:spAutoFit/>
          </a:bodyPr>
          <a:lstStyle/>
          <a:p>
            <a:r>
              <a:rPr lang="ja-JP" altLang="en-US" b="1" dirty="0"/>
              <a:t>仮説合致度〇</a:t>
            </a:r>
            <a:endParaRPr lang="en-US" altLang="ja-JP" b="1" dirty="0"/>
          </a:p>
          <a:p>
            <a:r>
              <a:rPr kumimoji="1" lang="ja-JP" altLang="en-US" b="1" dirty="0"/>
              <a:t>使えるデータ</a:t>
            </a:r>
          </a:p>
        </p:txBody>
      </p:sp>
      <p:sp>
        <p:nvSpPr>
          <p:cNvPr id="22" name="テキスト ボックス 21">
            <a:extLst>
              <a:ext uri="{FF2B5EF4-FFF2-40B4-BE49-F238E27FC236}">
                <a16:creationId xmlns:a16="http://schemas.microsoft.com/office/drawing/2014/main" id="{1F490196-B074-E4C6-09E6-339CD364C198}"/>
              </a:ext>
            </a:extLst>
          </p:cNvPr>
          <p:cNvSpPr txBox="1"/>
          <p:nvPr/>
        </p:nvSpPr>
        <p:spPr>
          <a:xfrm>
            <a:off x="9150096" y="1373832"/>
            <a:ext cx="1569660" cy="646331"/>
          </a:xfrm>
          <a:prstGeom prst="rect">
            <a:avLst/>
          </a:prstGeom>
          <a:noFill/>
        </p:spPr>
        <p:txBody>
          <a:bodyPr wrap="none" rtlCol="0">
            <a:spAutoFit/>
          </a:bodyPr>
          <a:lstStyle/>
          <a:p>
            <a:r>
              <a:rPr lang="ja-JP" altLang="en-US" b="1" dirty="0"/>
              <a:t>仮説合致度</a:t>
            </a:r>
            <a:r>
              <a:rPr lang="en-US" altLang="ja-JP" b="1" dirty="0"/>
              <a:t>×</a:t>
            </a:r>
          </a:p>
          <a:p>
            <a:r>
              <a:rPr kumimoji="1" lang="ja-JP" altLang="en-US" b="1" dirty="0"/>
              <a:t>使えるデータ</a:t>
            </a:r>
          </a:p>
        </p:txBody>
      </p:sp>
    </p:spTree>
    <p:extLst>
      <p:ext uri="{BB962C8B-B14F-4D97-AF65-F5344CB8AC3E}">
        <p14:creationId xmlns:p14="http://schemas.microsoft.com/office/powerpoint/2010/main" val="3106546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D1CA6-ABBE-C8E7-B99E-C980315BE6BD}"/>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D4869BC0-0B19-0E0E-E8FE-91C3097588C8}"/>
              </a:ext>
            </a:extLst>
          </p:cNvPr>
          <p:cNvSpPr/>
          <p:nvPr/>
        </p:nvSpPr>
        <p:spPr>
          <a:xfrm>
            <a:off x="0" y="0"/>
            <a:ext cx="12192000" cy="99669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5400" dirty="0"/>
              <a:t>リスク回避について</a:t>
            </a:r>
            <a:endParaRPr kumimoji="1" lang="ja-JP" altLang="en-US" sz="5400" dirty="0"/>
          </a:p>
        </p:txBody>
      </p:sp>
      <p:sp>
        <p:nvSpPr>
          <p:cNvPr id="6" name="テキスト ボックス 5">
            <a:extLst>
              <a:ext uri="{FF2B5EF4-FFF2-40B4-BE49-F238E27FC236}">
                <a16:creationId xmlns:a16="http://schemas.microsoft.com/office/drawing/2014/main" id="{F50BE89A-5DEA-1B08-B0E3-DCEABE4AD772}"/>
              </a:ext>
            </a:extLst>
          </p:cNvPr>
          <p:cNvSpPr txBox="1"/>
          <p:nvPr/>
        </p:nvSpPr>
        <p:spPr>
          <a:xfrm>
            <a:off x="0" y="1289304"/>
            <a:ext cx="2468880" cy="646331"/>
          </a:xfrm>
          <a:prstGeom prst="rect">
            <a:avLst/>
          </a:prstGeom>
          <a:noFill/>
        </p:spPr>
        <p:txBody>
          <a:bodyPr wrap="square" rtlCol="0">
            <a:spAutoFit/>
          </a:bodyPr>
          <a:lstStyle/>
          <a:p>
            <a:r>
              <a:rPr lang="ja-JP" altLang="en-US" sz="3600" dirty="0"/>
              <a:t>現状分析</a:t>
            </a:r>
            <a:endParaRPr kumimoji="1" lang="ja-JP" altLang="en-US" sz="3600" dirty="0"/>
          </a:p>
        </p:txBody>
      </p:sp>
      <p:cxnSp>
        <p:nvCxnSpPr>
          <p:cNvPr id="8" name="直線コネクタ 7">
            <a:extLst>
              <a:ext uri="{FF2B5EF4-FFF2-40B4-BE49-F238E27FC236}">
                <a16:creationId xmlns:a16="http://schemas.microsoft.com/office/drawing/2014/main" id="{F6A2502A-9F84-A458-C9AB-E032D19B7975}"/>
              </a:ext>
            </a:extLst>
          </p:cNvPr>
          <p:cNvCxnSpPr>
            <a:cxnSpLocks/>
          </p:cNvCxnSpPr>
          <p:nvPr/>
        </p:nvCxnSpPr>
        <p:spPr>
          <a:xfrm>
            <a:off x="6096000" y="1179576"/>
            <a:ext cx="0" cy="5285232"/>
          </a:xfrm>
          <a:prstGeom prst="line">
            <a:avLst/>
          </a:prstGeom>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75087912-B239-1AE5-A846-266670F13368}"/>
              </a:ext>
            </a:extLst>
          </p:cNvPr>
          <p:cNvSpPr txBox="1"/>
          <p:nvPr/>
        </p:nvSpPr>
        <p:spPr>
          <a:xfrm>
            <a:off x="138544" y="3517314"/>
            <a:ext cx="6070232" cy="646331"/>
          </a:xfrm>
          <a:prstGeom prst="rect">
            <a:avLst/>
          </a:prstGeom>
          <a:noFill/>
        </p:spPr>
        <p:txBody>
          <a:bodyPr wrap="square" rtlCol="0">
            <a:spAutoFit/>
          </a:bodyPr>
          <a:lstStyle/>
          <a:p>
            <a:r>
              <a:rPr kumimoji="1" lang="ja-JP" altLang="en-US" dirty="0"/>
              <a:t>定期預金をしている人の中で投資をしている人々の割合</a:t>
            </a:r>
            <a:endParaRPr kumimoji="1" lang="en-US" altLang="ja-JP" dirty="0"/>
          </a:p>
          <a:p>
            <a:r>
              <a:rPr lang="ja-JP" altLang="en-US" dirty="0"/>
              <a:t>定期預金している人</a:t>
            </a:r>
            <a:r>
              <a:rPr lang="en-US" altLang="ja-JP" dirty="0"/>
              <a:t>n = 4184</a:t>
            </a:r>
            <a:endParaRPr kumimoji="1" lang="ja-JP" altLang="en-US" dirty="0"/>
          </a:p>
        </p:txBody>
      </p:sp>
      <p:pic>
        <p:nvPicPr>
          <p:cNvPr id="13" name="図 12" descr="グラフ, 棒グラフ&#10;&#10;AI 生成コンテンツは誤りを含む可能性があります。">
            <a:extLst>
              <a:ext uri="{FF2B5EF4-FFF2-40B4-BE49-F238E27FC236}">
                <a16:creationId xmlns:a16="http://schemas.microsoft.com/office/drawing/2014/main" id="{7A48BC9D-6E38-8EB7-C883-8D9BF51731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8776" y="2370817"/>
            <a:ext cx="5946084" cy="3468549"/>
          </a:xfrm>
          <a:prstGeom prst="rect">
            <a:avLst/>
          </a:prstGeom>
        </p:spPr>
      </p:pic>
      <p:sp>
        <p:nvSpPr>
          <p:cNvPr id="14" name="テキスト ボックス 13">
            <a:extLst>
              <a:ext uri="{FF2B5EF4-FFF2-40B4-BE49-F238E27FC236}">
                <a16:creationId xmlns:a16="http://schemas.microsoft.com/office/drawing/2014/main" id="{BC64D2A5-0364-E430-702F-025C1E65D981}"/>
              </a:ext>
            </a:extLst>
          </p:cNvPr>
          <p:cNvSpPr txBox="1"/>
          <p:nvPr/>
        </p:nvSpPr>
        <p:spPr>
          <a:xfrm>
            <a:off x="7360637" y="5839366"/>
            <a:ext cx="4570482" cy="369332"/>
          </a:xfrm>
          <a:prstGeom prst="rect">
            <a:avLst/>
          </a:prstGeom>
          <a:noFill/>
        </p:spPr>
        <p:txBody>
          <a:bodyPr wrap="none" rtlCol="0">
            <a:spAutoFit/>
          </a:bodyPr>
          <a:lstStyle/>
          <a:p>
            <a:r>
              <a:rPr kumimoji="1" lang="ja-JP" altLang="en-US" dirty="0"/>
              <a:t>口座取引年数と将来投資をする人々の割合</a:t>
            </a:r>
          </a:p>
        </p:txBody>
      </p:sp>
      <p:sp>
        <p:nvSpPr>
          <p:cNvPr id="15" name="テキスト ボックス 14">
            <a:extLst>
              <a:ext uri="{FF2B5EF4-FFF2-40B4-BE49-F238E27FC236}">
                <a16:creationId xmlns:a16="http://schemas.microsoft.com/office/drawing/2014/main" id="{E7586021-731B-B2C9-0739-C2EEB8922D53}"/>
              </a:ext>
            </a:extLst>
          </p:cNvPr>
          <p:cNvSpPr txBox="1"/>
          <p:nvPr/>
        </p:nvSpPr>
        <p:spPr>
          <a:xfrm>
            <a:off x="6116771" y="1247424"/>
            <a:ext cx="2067107" cy="1200329"/>
          </a:xfrm>
          <a:prstGeom prst="rect">
            <a:avLst/>
          </a:prstGeom>
          <a:noFill/>
        </p:spPr>
        <p:txBody>
          <a:bodyPr wrap="square" rtlCol="0">
            <a:spAutoFit/>
          </a:bodyPr>
          <a:lstStyle/>
          <a:p>
            <a:r>
              <a:rPr kumimoji="1" lang="ja-JP" altLang="en-US" sz="3600" dirty="0"/>
              <a:t>将来地点分析</a:t>
            </a:r>
          </a:p>
        </p:txBody>
      </p:sp>
      <p:pic>
        <p:nvPicPr>
          <p:cNvPr id="17" name="図 16" descr="グラフ, 棒グラフ&#10;&#10;AI 生成コンテンツは誤りを含む可能性があります。">
            <a:extLst>
              <a:ext uri="{FF2B5EF4-FFF2-40B4-BE49-F238E27FC236}">
                <a16:creationId xmlns:a16="http://schemas.microsoft.com/office/drawing/2014/main" id="{28A3B9F9-658F-B729-7CC5-0161EDBFDF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8314" y="4097553"/>
            <a:ext cx="3886603" cy="2331962"/>
          </a:xfrm>
          <a:prstGeom prst="rect">
            <a:avLst/>
          </a:prstGeom>
        </p:spPr>
      </p:pic>
      <p:pic>
        <p:nvPicPr>
          <p:cNvPr id="19" name="図 18" descr="グラフ, 棒グラフ&#10;&#10;AI 生成コンテンツは誤りを含む可能性があります。">
            <a:extLst>
              <a:ext uri="{FF2B5EF4-FFF2-40B4-BE49-F238E27FC236}">
                <a16:creationId xmlns:a16="http://schemas.microsoft.com/office/drawing/2014/main" id="{DE862A77-8658-AEF8-D990-A45750A62B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78314" y="1179576"/>
            <a:ext cx="3995018" cy="2397011"/>
          </a:xfrm>
          <a:prstGeom prst="rect">
            <a:avLst/>
          </a:prstGeom>
        </p:spPr>
      </p:pic>
      <p:sp>
        <p:nvSpPr>
          <p:cNvPr id="20" name="テキスト ボックス 19">
            <a:extLst>
              <a:ext uri="{FF2B5EF4-FFF2-40B4-BE49-F238E27FC236}">
                <a16:creationId xmlns:a16="http://schemas.microsoft.com/office/drawing/2014/main" id="{B17691F9-03C8-B390-5A3C-162DB67DDDC8}"/>
              </a:ext>
            </a:extLst>
          </p:cNvPr>
          <p:cNvSpPr txBox="1"/>
          <p:nvPr/>
        </p:nvSpPr>
        <p:spPr>
          <a:xfrm>
            <a:off x="-69538" y="6420371"/>
            <a:ext cx="7326044" cy="369332"/>
          </a:xfrm>
          <a:prstGeom prst="rect">
            <a:avLst/>
          </a:prstGeom>
          <a:noFill/>
        </p:spPr>
        <p:txBody>
          <a:bodyPr wrap="none" rtlCol="0">
            <a:spAutoFit/>
          </a:bodyPr>
          <a:lstStyle/>
          <a:p>
            <a:r>
              <a:rPr kumimoji="1" lang="ja-JP" altLang="en-US" dirty="0"/>
              <a:t>定期預金をしていない人の中で投資をしている人々の割合 </a:t>
            </a:r>
            <a:r>
              <a:rPr kumimoji="1" lang="en-US" altLang="ja-JP" dirty="0"/>
              <a:t>n = 22193</a:t>
            </a:r>
            <a:endParaRPr kumimoji="1" lang="ja-JP" altLang="en-US" dirty="0"/>
          </a:p>
        </p:txBody>
      </p:sp>
      <p:sp>
        <p:nvSpPr>
          <p:cNvPr id="21" name="テキスト ボックス 20">
            <a:extLst>
              <a:ext uri="{FF2B5EF4-FFF2-40B4-BE49-F238E27FC236}">
                <a16:creationId xmlns:a16="http://schemas.microsoft.com/office/drawing/2014/main" id="{8306B72E-0BBC-C975-C691-278AB6EEA34C}"/>
              </a:ext>
            </a:extLst>
          </p:cNvPr>
          <p:cNvSpPr txBox="1"/>
          <p:nvPr/>
        </p:nvSpPr>
        <p:spPr>
          <a:xfrm>
            <a:off x="137160" y="1995262"/>
            <a:ext cx="1800493" cy="646331"/>
          </a:xfrm>
          <a:prstGeom prst="rect">
            <a:avLst/>
          </a:prstGeom>
          <a:noFill/>
        </p:spPr>
        <p:txBody>
          <a:bodyPr wrap="none" rtlCol="0">
            <a:spAutoFit/>
          </a:bodyPr>
          <a:lstStyle/>
          <a:p>
            <a:r>
              <a:rPr lang="ja-JP" altLang="en-US" b="1" dirty="0"/>
              <a:t>仮説合致度</a:t>
            </a:r>
            <a:r>
              <a:rPr lang="en-US" altLang="ja-JP" b="1" dirty="0"/>
              <a:t>×</a:t>
            </a:r>
          </a:p>
          <a:p>
            <a:r>
              <a:rPr kumimoji="1" lang="ja-JP" altLang="en-US" b="1" dirty="0"/>
              <a:t>使えないデータ</a:t>
            </a:r>
          </a:p>
        </p:txBody>
      </p:sp>
      <p:sp>
        <p:nvSpPr>
          <p:cNvPr id="22" name="テキスト ボックス 21">
            <a:extLst>
              <a:ext uri="{FF2B5EF4-FFF2-40B4-BE49-F238E27FC236}">
                <a16:creationId xmlns:a16="http://schemas.microsoft.com/office/drawing/2014/main" id="{8AE800B0-D28A-29F6-4A79-7240DA0B15CD}"/>
              </a:ext>
            </a:extLst>
          </p:cNvPr>
          <p:cNvSpPr txBox="1"/>
          <p:nvPr/>
        </p:nvSpPr>
        <p:spPr>
          <a:xfrm>
            <a:off x="9150096" y="1373832"/>
            <a:ext cx="1569660" cy="646331"/>
          </a:xfrm>
          <a:prstGeom prst="rect">
            <a:avLst/>
          </a:prstGeom>
          <a:noFill/>
        </p:spPr>
        <p:txBody>
          <a:bodyPr wrap="none" rtlCol="0">
            <a:spAutoFit/>
          </a:bodyPr>
          <a:lstStyle/>
          <a:p>
            <a:r>
              <a:rPr lang="ja-JP" altLang="en-US" b="1" dirty="0"/>
              <a:t>仮説合致度▲</a:t>
            </a:r>
            <a:endParaRPr lang="en-US" altLang="ja-JP" b="1" dirty="0"/>
          </a:p>
          <a:p>
            <a:r>
              <a:rPr kumimoji="1" lang="ja-JP" altLang="en-US" b="1" dirty="0"/>
              <a:t>使えるデータ</a:t>
            </a:r>
          </a:p>
        </p:txBody>
      </p:sp>
    </p:spTree>
    <p:extLst>
      <p:ext uri="{BB962C8B-B14F-4D97-AF65-F5344CB8AC3E}">
        <p14:creationId xmlns:p14="http://schemas.microsoft.com/office/powerpoint/2010/main" val="798877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4143A-E75F-30A8-12BC-46DA1C7DDD07}"/>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C1C329AD-FFAE-878F-76AE-4D0C7B8DE3F1}"/>
              </a:ext>
            </a:extLst>
          </p:cNvPr>
          <p:cNvSpPr/>
          <p:nvPr/>
        </p:nvSpPr>
        <p:spPr>
          <a:xfrm>
            <a:off x="0" y="0"/>
            <a:ext cx="12192000" cy="99669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5400" dirty="0"/>
              <a:t>金融・情報リテラシー不足について</a:t>
            </a:r>
            <a:endParaRPr kumimoji="1" lang="ja-JP" altLang="en-US" sz="5400" dirty="0"/>
          </a:p>
        </p:txBody>
      </p:sp>
      <p:sp>
        <p:nvSpPr>
          <p:cNvPr id="5" name="テキスト ボックス 4">
            <a:extLst>
              <a:ext uri="{FF2B5EF4-FFF2-40B4-BE49-F238E27FC236}">
                <a16:creationId xmlns:a16="http://schemas.microsoft.com/office/drawing/2014/main" id="{3AC6F860-A4E1-48DC-25A0-0DEBDF43DDE5}"/>
              </a:ext>
            </a:extLst>
          </p:cNvPr>
          <p:cNvSpPr txBox="1"/>
          <p:nvPr/>
        </p:nvSpPr>
        <p:spPr>
          <a:xfrm>
            <a:off x="0" y="1289304"/>
            <a:ext cx="2468880" cy="646331"/>
          </a:xfrm>
          <a:prstGeom prst="rect">
            <a:avLst/>
          </a:prstGeom>
          <a:noFill/>
        </p:spPr>
        <p:txBody>
          <a:bodyPr wrap="square" rtlCol="0">
            <a:spAutoFit/>
          </a:bodyPr>
          <a:lstStyle/>
          <a:p>
            <a:r>
              <a:rPr lang="ja-JP" altLang="en-US" sz="3600" dirty="0"/>
              <a:t>現状分析</a:t>
            </a:r>
            <a:endParaRPr kumimoji="1" lang="ja-JP" altLang="en-US" sz="3600" dirty="0"/>
          </a:p>
        </p:txBody>
      </p:sp>
      <p:cxnSp>
        <p:nvCxnSpPr>
          <p:cNvPr id="7" name="直線コネクタ 6">
            <a:extLst>
              <a:ext uri="{FF2B5EF4-FFF2-40B4-BE49-F238E27FC236}">
                <a16:creationId xmlns:a16="http://schemas.microsoft.com/office/drawing/2014/main" id="{66BB245A-3349-F0F4-D27D-5304AA12E0DD}"/>
              </a:ext>
            </a:extLst>
          </p:cNvPr>
          <p:cNvCxnSpPr>
            <a:cxnSpLocks/>
          </p:cNvCxnSpPr>
          <p:nvPr/>
        </p:nvCxnSpPr>
        <p:spPr>
          <a:xfrm>
            <a:off x="6096000" y="1179576"/>
            <a:ext cx="0" cy="5285232"/>
          </a:xfrm>
          <a:prstGeom prst="line">
            <a:avLst/>
          </a:prstGeom>
        </p:spPr>
        <p:style>
          <a:lnRef idx="2">
            <a:schemeClr val="accent1"/>
          </a:lnRef>
          <a:fillRef idx="0">
            <a:schemeClr val="accent1"/>
          </a:fillRef>
          <a:effectRef idx="1">
            <a:schemeClr val="accent1"/>
          </a:effectRef>
          <a:fontRef idx="minor">
            <a:schemeClr val="tx1"/>
          </a:fontRef>
        </p:style>
      </p:cxnSp>
      <p:pic>
        <p:nvPicPr>
          <p:cNvPr id="11" name="図 10" descr="グラフ, 棒グラフ&#10;&#10;AI 生成コンテンツは誤りを含む可能性があります。">
            <a:extLst>
              <a:ext uri="{FF2B5EF4-FFF2-40B4-BE49-F238E27FC236}">
                <a16:creationId xmlns:a16="http://schemas.microsoft.com/office/drawing/2014/main" id="{0A3500EE-017B-E9F0-1D34-B4C202CA0A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1445" y="996696"/>
            <a:ext cx="3632217" cy="2307992"/>
          </a:xfrm>
          <a:prstGeom prst="rect">
            <a:avLst/>
          </a:prstGeom>
        </p:spPr>
      </p:pic>
      <p:sp>
        <p:nvSpPr>
          <p:cNvPr id="12" name="テキスト ボックス 11">
            <a:extLst>
              <a:ext uri="{FF2B5EF4-FFF2-40B4-BE49-F238E27FC236}">
                <a16:creationId xmlns:a16="http://schemas.microsoft.com/office/drawing/2014/main" id="{0F514932-3B54-2644-8F49-EA708E488890}"/>
              </a:ext>
            </a:extLst>
          </p:cNvPr>
          <p:cNvSpPr txBox="1"/>
          <p:nvPr/>
        </p:nvSpPr>
        <p:spPr>
          <a:xfrm>
            <a:off x="2468880" y="3304688"/>
            <a:ext cx="2965877" cy="646331"/>
          </a:xfrm>
          <a:prstGeom prst="rect">
            <a:avLst/>
          </a:prstGeom>
          <a:noFill/>
        </p:spPr>
        <p:txBody>
          <a:bodyPr wrap="none" rtlCol="0">
            <a:spAutoFit/>
          </a:bodyPr>
          <a:lstStyle/>
          <a:p>
            <a:r>
              <a:rPr kumimoji="1" lang="ja-JP" altLang="en-US" dirty="0"/>
              <a:t>年齢別のアプリ利用率</a:t>
            </a:r>
            <a:endParaRPr kumimoji="1" lang="en-US" altLang="ja-JP" dirty="0"/>
          </a:p>
          <a:p>
            <a:r>
              <a:rPr kumimoji="1" lang="en-US" altLang="ja-JP" dirty="0"/>
              <a:t>18</a:t>
            </a:r>
            <a:r>
              <a:rPr kumimoji="1" lang="ja-JP" altLang="en-US" dirty="0"/>
              <a:t>歳以上の全員 </a:t>
            </a:r>
            <a:r>
              <a:rPr kumimoji="1" lang="en-US" altLang="ja-JP" dirty="0"/>
              <a:t>n = 26373</a:t>
            </a:r>
            <a:endParaRPr kumimoji="1" lang="ja-JP" altLang="en-US" dirty="0"/>
          </a:p>
        </p:txBody>
      </p:sp>
      <p:pic>
        <p:nvPicPr>
          <p:cNvPr id="13" name="図 12" descr="グラフ, 棒グラフ&#10;&#10;AI 生成コンテンツは誤りを含む可能性があります。">
            <a:extLst>
              <a:ext uri="{FF2B5EF4-FFF2-40B4-BE49-F238E27FC236}">
                <a16:creationId xmlns:a16="http://schemas.microsoft.com/office/drawing/2014/main" id="{A4EFFA4F-2439-9D16-0B97-1399E835DF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6595" y="3908717"/>
            <a:ext cx="4179088" cy="2538432"/>
          </a:xfrm>
          <a:prstGeom prst="rect">
            <a:avLst/>
          </a:prstGeom>
        </p:spPr>
      </p:pic>
      <p:sp>
        <p:nvSpPr>
          <p:cNvPr id="15" name="テキスト ボックス 14">
            <a:extLst>
              <a:ext uri="{FF2B5EF4-FFF2-40B4-BE49-F238E27FC236}">
                <a16:creationId xmlns:a16="http://schemas.microsoft.com/office/drawing/2014/main" id="{B5CA9DC4-DA68-7733-15A1-81BC5AFBD592}"/>
              </a:ext>
            </a:extLst>
          </p:cNvPr>
          <p:cNvSpPr txBox="1"/>
          <p:nvPr/>
        </p:nvSpPr>
        <p:spPr>
          <a:xfrm>
            <a:off x="872894" y="6388084"/>
            <a:ext cx="6190488" cy="369332"/>
          </a:xfrm>
          <a:prstGeom prst="rect">
            <a:avLst/>
          </a:prstGeom>
          <a:noFill/>
        </p:spPr>
        <p:txBody>
          <a:bodyPr wrap="square">
            <a:spAutoFit/>
          </a:bodyPr>
          <a:lstStyle/>
          <a:p>
            <a:pPr algn="ctr"/>
            <a:r>
              <a:rPr kumimoji="1" lang="ja-JP" altLang="en-US" dirty="0"/>
              <a:t>年齢別の投資率  </a:t>
            </a:r>
            <a:r>
              <a:rPr kumimoji="1" lang="en-US" altLang="ja-JP" dirty="0"/>
              <a:t>18</a:t>
            </a:r>
            <a:r>
              <a:rPr kumimoji="1" lang="ja-JP" altLang="en-US" dirty="0"/>
              <a:t>歳以上の全員 </a:t>
            </a:r>
            <a:r>
              <a:rPr kumimoji="1" lang="en-US" altLang="ja-JP" dirty="0"/>
              <a:t>n = 26373</a:t>
            </a:r>
          </a:p>
        </p:txBody>
      </p:sp>
      <p:pic>
        <p:nvPicPr>
          <p:cNvPr id="17" name="図 16" descr="グラフ, 棒グラフ&#10;&#10;AI 生成コンテンツは誤りを含む可能性があります。">
            <a:extLst>
              <a:ext uri="{FF2B5EF4-FFF2-40B4-BE49-F238E27FC236}">
                <a16:creationId xmlns:a16="http://schemas.microsoft.com/office/drawing/2014/main" id="{16247C5A-EC0B-3B0F-DCBD-9071C19104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7084" y="2560225"/>
            <a:ext cx="5404920" cy="3152870"/>
          </a:xfrm>
          <a:prstGeom prst="rect">
            <a:avLst/>
          </a:prstGeom>
        </p:spPr>
      </p:pic>
      <p:sp>
        <p:nvSpPr>
          <p:cNvPr id="18" name="テキスト ボックス 17">
            <a:extLst>
              <a:ext uri="{FF2B5EF4-FFF2-40B4-BE49-F238E27FC236}">
                <a16:creationId xmlns:a16="http://schemas.microsoft.com/office/drawing/2014/main" id="{3460C774-38A8-A249-9D08-9AB8A6318AEC}"/>
              </a:ext>
            </a:extLst>
          </p:cNvPr>
          <p:cNvSpPr txBox="1"/>
          <p:nvPr/>
        </p:nvSpPr>
        <p:spPr>
          <a:xfrm>
            <a:off x="6858803" y="5783687"/>
            <a:ext cx="5032147" cy="646331"/>
          </a:xfrm>
          <a:prstGeom prst="rect">
            <a:avLst/>
          </a:prstGeom>
          <a:noFill/>
        </p:spPr>
        <p:txBody>
          <a:bodyPr wrap="none" rtlCol="0">
            <a:spAutoFit/>
          </a:bodyPr>
          <a:lstStyle/>
          <a:p>
            <a:r>
              <a:rPr kumimoji="1" lang="ja-JP" altLang="en-US" dirty="0"/>
              <a:t>アプリを利用している人と利用していない人の</a:t>
            </a:r>
            <a:endParaRPr kumimoji="1" lang="en-US" altLang="ja-JP" dirty="0"/>
          </a:p>
          <a:p>
            <a:r>
              <a:rPr lang="ja-JP" altLang="en-US" dirty="0"/>
              <a:t>将来の投資信託加入率</a:t>
            </a:r>
            <a:endParaRPr kumimoji="1" lang="ja-JP" altLang="en-US" dirty="0"/>
          </a:p>
        </p:txBody>
      </p:sp>
      <p:sp>
        <p:nvSpPr>
          <p:cNvPr id="21" name="テキスト ボックス 20">
            <a:extLst>
              <a:ext uri="{FF2B5EF4-FFF2-40B4-BE49-F238E27FC236}">
                <a16:creationId xmlns:a16="http://schemas.microsoft.com/office/drawing/2014/main" id="{8CD9898C-956F-2AD4-0209-53B4BF35440C}"/>
              </a:ext>
            </a:extLst>
          </p:cNvPr>
          <p:cNvSpPr txBox="1"/>
          <p:nvPr/>
        </p:nvSpPr>
        <p:spPr>
          <a:xfrm>
            <a:off x="6116771" y="1247424"/>
            <a:ext cx="2067107" cy="1200329"/>
          </a:xfrm>
          <a:prstGeom prst="rect">
            <a:avLst/>
          </a:prstGeom>
          <a:noFill/>
        </p:spPr>
        <p:txBody>
          <a:bodyPr wrap="square" rtlCol="0">
            <a:spAutoFit/>
          </a:bodyPr>
          <a:lstStyle/>
          <a:p>
            <a:r>
              <a:rPr kumimoji="1" lang="ja-JP" altLang="en-US" sz="3600" dirty="0"/>
              <a:t>将来地点分析</a:t>
            </a:r>
          </a:p>
        </p:txBody>
      </p:sp>
      <p:sp>
        <p:nvSpPr>
          <p:cNvPr id="22" name="テキスト ボックス 21">
            <a:extLst>
              <a:ext uri="{FF2B5EF4-FFF2-40B4-BE49-F238E27FC236}">
                <a16:creationId xmlns:a16="http://schemas.microsoft.com/office/drawing/2014/main" id="{7260DF77-1684-484D-EFBC-EB5FF1434AB4}"/>
              </a:ext>
            </a:extLst>
          </p:cNvPr>
          <p:cNvSpPr txBox="1"/>
          <p:nvPr/>
        </p:nvSpPr>
        <p:spPr>
          <a:xfrm>
            <a:off x="9150096" y="1373832"/>
            <a:ext cx="1569660" cy="646331"/>
          </a:xfrm>
          <a:prstGeom prst="rect">
            <a:avLst/>
          </a:prstGeom>
          <a:noFill/>
        </p:spPr>
        <p:txBody>
          <a:bodyPr wrap="none" rtlCol="0">
            <a:spAutoFit/>
          </a:bodyPr>
          <a:lstStyle/>
          <a:p>
            <a:r>
              <a:rPr lang="ja-JP" altLang="en-US" b="1" dirty="0"/>
              <a:t>仮説合致度〇</a:t>
            </a:r>
            <a:endParaRPr lang="en-US" altLang="ja-JP" b="1" dirty="0"/>
          </a:p>
          <a:p>
            <a:r>
              <a:rPr kumimoji="1" lang="ja-JP" altLang="en-US" b="1" dirty="0"/>
              <a:t>使えるデータ</a:t>
            </a:r>
          </a:p>
        </p:txBody>
      </p:sp>
      <p:sp>
        <p:nvSpPr>
          <p:cNvPr id="23" name="テキスト ボックス 22">
            <a:extLst>
              <a:ext uri="{FF2B5EF4-FFF2-40B4-BE49-F238E27FC236}">
                <a16:creationId xmlns:a16="http://schemas.microsoft.com/office/drawing/2014/main" id="{353C1B27-56C1-2D0B-E0A7-214565B510E3}"/>
              </a:ext>
            </a:extLst>
          </p:cNvPr>
          <p:cNvSpPr txBox="1"/>
          <p:nvPr/>
        </p:nvSpPr>
        <p:spPr>
          <a:xfrm>
            <a:off x="137160" y="1995262"/>
            <a:ext cx="1800493" cy="646331"/>
          </a:xfrm>
          <a:prstGeom prst="rect">
            <a:avLst/>
          </a:prstGeom>
          <a:noFill/>
        </p:spPr>
        <p:txBody>
          <a:bodyPr wrap="none" rtlCol="0">
            <a:spAutoFit/>
          </a:bodyPr>
          <a:lstStyle/>
          <a:p>
            <a:r>
              <a:rPr lang="ja-JP" altLang="en-US" b="1" dirty="0"/>
              <a:t>仮説合致度</a:t>
            </a:r>
            <a:r>
              <a:rPr lang="en-US" altLang="ja-JP" b="1" dirty="0"/>
              <a:t>×</a:t>
            </a:r>
          </a:p>
          <a:p>
            <a:r>
              <a:rPr kumimoji="1" lang="ja-JP" altLang="en-US" b="1" dirty="0"/>
              <a:t>使えないデータ</a:t>
            </a:r>
          </a:p>
        </p:txBody>
      </p:sp>
    </p:spTree>
    <p:extLst>
      <p:ext uri="{BB962C8B-B14F-4D97-AF65-F5344CB8AC3E}">
        <p14:creationId xmlns:p14="http://schemas.microsoft.com/office/powerpoint/2010/main" val="2387224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EFEA-2C01-2B07-1469-7848B50B93C6}"/>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6988EC7B-C3EC-B7D8-6F72-45469EB7D297}"/>
              </a:ext>
            </a:extLst>
          </p:cNvPr>
          <p:cNvSpPr/>
          <p:nvPr/>
        </p:nvSpPr>
        <p:spPr>
          <a:xfrm>
            <a:off x="0" y="0"/>
            <a:ext cx="12192000" cy="99669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5400" dirty="0"/>
              <a:t>メインバンクではないについて</a:t>
            </a:r>
            <a:endParaRPr kumimoji="1" lang="ja-JP" altLang="en-US" sz="5400" dirty="0"/>
          </a:p>
        </p:txBody>
      </p:sp>
      <p:sp>
        <p:nvSpPr>
          <p:cNvPr id="6" name="テキスト ボックス 5">
            <a:extLst>
              <a:ext uri="{FF2B5EF4-FFF2-40B4-BE49-F238E27FC236}">
                <a16:creationId xmlns:a16="http://schemas.microsoft.com/office/drawing/2014/main" id="{9255707D-B351-0744-0F14-401C1CDC9E79}"/>
              </a:ext>
            </a:extLst>
          </p:cNvPr>
          <p:cNvSpPr txBox="1"/>
          <p:nvPr/>
        </p:nvSpPr>
        <p:spPr>
          <a:xfrm>
            <a:off x="6116771" y="1247424"/>
            <a:ext cx="2067107" cy="1200329"/>
          </a:xfrm>
          <a:prstGeom prst="rect">
            <a:avLst/>
          </a:prstGeom>
          <a:noFill/>
        </p:spPr>
        <p:txBody>
          <a:bodyPr wrap="square" rtlCol="0">
            <a:spAutoFit/>
          </a:bodyPr>
          <a:lstStyle/>
          <a:p>
            <a:r>
              <a:rPr kumimoji="1" lang="ja-JP" altLang="en-US" sz="3600" dirty="0"/>
              <a:t>将来地点分析</a:t>
            </a:r>
          </a:p>
        </p:txBody>
      </p:sp>
      <p:cxnSp>
        <p:nvCxnSpPr>
          <p:cNvPr id="7" name="直線コネクタ 6">
            <a:extLst>
              <a:ext uri="{FF2B5EF4-FFF2-40B4-BE49-F238E27FC236}">
                <a16:creationId xmlns:a16="http://schemas.microsoft.com/office/drawing/2014/main" id="{FBCED35E-6EFB-7A0C-A5E2-34B890961F5F}"/>
              </a:ext>
            </a:extLst>
          </p:cNvPr>
          <p:cNvCxnSpPr>
            <a:cxnSpLocks/>
          </p:cNvCxnSpPr>
          <p:nvPr/>
        </p:nvCxnSpPr>
        <p:spPr>
          <a:xfrm>
            <a:off x="6096000" y="1179576"/>
            <a:ext cx="0" cy="5285232"/>
          </a:xfrm>
          <a:prstGeom prst="line">
            <a:avLst/>
          </a:prstGeom>
        </p:spPr>
        <p:style>
          <a:lnRef idx="2">
            <a:schemeClr val="accent1"/>
          </a:lnRef>
          <a:fillRef idx="0">
            <a:schemeClr val="accent1"/>
          </a:fillRef>
          <a:effectRef idx="1">
            <a:schemeClr val="accent1"/>
          </a:effectRef>
          <a:fontRef idx="minor">
            <a:schemeClr val="tx1"/>
          </a:fontRef>
        </p:style>
      </p:cxnSp>
      <p:sp>
        <p:nvSpPr>
          <p:cNvPr id="8" name="テキスト ボックス 7">
            <a:extLst>
              <a:ext uri="{FF2B5EF4-FFF2-40B4-BE49-F238E27FC236}">
                <a16:creationId xmlns:a16="http://schemas.microsoft.com/office/drawing/2014/main" id="{96472201-1C05-8E89-BC95-A495D752E701}"/>
              </a:ext>
            </a:extLst>
          </p:cNvPr>
          <p:cNvSpPr txBox="1"/>
          <p:nvPr/>
        </p:nvSpPr>
        <p:spPr>
          <a:xfrm>
            <a:off x="0" y="1289304"/>
            <a:ext cx="2468880" cy="646331"/>
          </a:xfrm>
          <a:prstGeom prst="rect">
            <a:avLst/>
          </a:prstGeom>
          <a:noFill/>
        </p:spPr>
        <p:txBody>
          <a:bodyPr wrap="square" rtlCol="0">
            <a:spAutoFit/>
          </a:bodyPr>
          <a:lstStyle/>
          <a:p>
            <a:r>
              <a:rPr lang="ja-JP" altLang="en-US" sz="3600" dirty="0"/>
              <a:t>現状分析</a:t>
            </a:r>
            <a:endParaRPr kumimoji="1" lang="ja-JP" altLang="en-US" sz="3600" dirty="0"/>
          </a:p>
        </p:txBody>
      </p:sp>
      <p:pic>
        <p:nvPicPr>
          <p:cNvPr id="10" name="図 9" descr="グラフ, 棒グラフ&#10;&#10;AI 生成コンテンツは誤りを含む可能性があります。">
            <a:extLst>
              <a:ext uri="{FF2B5EF4-FFF2-40B4-BE49-F238E27FC236}">
                <a16:creationId xmlns:a16="http://schemas.microsoft.com/office/drawing/2014/main" id="{EA111C18-EDBF-BD11-3D4C-489CC70F78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084" y="2701221"/>
            <a:ext cx="5279064" cy="3079454"/>
          </a:xfrm>
          <a:prstGeom prst="rect">
            <a:avLst/>
          </a:prstGeom>
        </p:spPr>
      </p:pic>
      <p:sp>
        <p:nvSpPr>
          <p:cNvPr id="11" name="テキスト ボックス 10">
            <a:extLst>
              <a:ext uri="{FF2B5EF4-FFF2-40B4-BE49-F238E27FC236}">
                <a16:creationId xmlns:a16="http://schemas.microsoft.com/office/drawing/2014/main" id="{3F5A34A4-7B5B-225F-C019-D6C8A07C6917}"/>
              </a:ext>
            </a:extLst>
          </p:cNvPr>
          <p:cNvSpPr txBox="1"/>
          <p:nvPr/>
        </p:nvSpPr>
        <p:spPr>
          <a:xfrm>
            <a:off x="360232" y="5868721"/>
            <a:ext cx="5714998" cy="923330"/>
          </a:xfrm>
          <a:prstGeom prst="rect">
            <a:avLst/>
          </a:prstGeom>
          <a:noFill/>
        </p:spPr>
        <p:txBody>
          <a:bodyPr wrap="square" rtlCol="0">
            <a:spAutoFit/>
          </a:bodyPr>
          <a:lstStyle/>
          <a:p>
            <a:r>
              <a:rPr lang="ja-JP" altLang="en-US" dirty="0"/>
              <a:t>「給与振込あり</a:t>
            </a:r>
            <a:r>
              <a:rPr lang="en-US" altLang="ja-JP" dirty="0"/>
              <a:t>(n = 7773)</a:t>
            </a:r>
            <a:r>
              <a:rPr lang="ja-JP" altLang="en-US" dirty="0"/>
              <a:t>」「年金振込あり</a:t>
            </a:r>
            <a:r>
              <a:rPr lang="en-US" altLang="ja-JP" dirty="0"/>
              <a:t>(n = 3341)</a:t>
            </a:r>
            <a:r>
              <a:rPr lang="ja-JP" altLang="en-US" dirty="0"/>
              <a:t>」「どちらもなし</a:t>
            </a:r>
            <a:r>
              <a:rPr lang="en-US" altLang="ja-JP" dirty="0"/>
              <a:t>(n = 15336)</a:t>
            </a:r>
            <a:r>
              <a:rPr lang="ja-JP" altLang="en-US" dirty="0"/>
              <a:t>」の</a:t>
            </a:r>
            <a:r>
              <a:rPr lang="en-US" altLang="ja-JP" dirty="0"/>
              <a:t>3</a:t>
            </a:r>
            <a:r>
              <a:rPr lang="ja-JP" altLang="en-US" dirty="0"/>
              <a:t>つのグループそれぞれについての投資信託と</a:t>
            </a:r>
            <a:r>
              <a:rPr lang="en-US" altLang="ja-JP" dirty="0"/>
              <a:t>NISA</a:t>
            </a:r>
            <a:r>
              <a:rPr lang="ja-JP" altLang="en-US" dirty="0"/>
              <a:t>の加入率     </a:t>
            </a:r>
            <a:endParaRPr lang="en-US" altLang="ja-JP" dirty="0"/>
          </a:p>
        </p:txBody>
      </p:sp>
      <p:pic>
        <p:nvPicPr>
          <p:cNvPr id="13" name="図 12" descr="グラフ, 棒グラフ&#10;&#10;AI 生成コンテンツは誤りを含む可能性があります。">
            <a:extLst>
              <a:ext uri="{FF2B5EF4-FFF2-40B4-BE49-F238E27FC236}">
                <a16:creationId xmlns:a16="http://schemas.microsoft.com/office/drawing/2014/main" id="{E514097C-46F0-8EA1-D697-2F656DCED6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19626" y="1179576"/>
            <a:ext cx="3836810" cy="2368461"/>
          </a:xfrm>
          <a:prstGeom prst="rect">
            <a:avLst/>
          </a:prstGeom>
        </p:spPr>
      </p:pic>
      <p:pic>
        <p:nvPicPr>
          <p:cNvPr id="15" name="図 14" descr="グラフ, 棒グラフ&#10;&#10;AI 生成コンテンツは誤りを含む可能性があります。">
            <a:extLst>
              <a:ext uri="{FF2B5EF4-FFF2-40B4-BE49-F238E27FC236}">
                <a16:creationId xmlns:a16="http://schemas.microsoft.com/office/drawing/2014/main" id="{F824FD1D-9419-A402-07F0-ABDBB444E2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19626" y="3871378"/>
            <a:ext cx="4021831" cy="2434081"/>
          </a:xfrm>
          <a:prstGeom prst="rect">
            <a:avLst/>
          </a:prstGeom>
        </p:spPr>
      </p:pic>
      <p:sp>
        <p:nvSpPr>
          <p:cNvPr id="16" name="テキスト ボックス 15">
            <a:extLst>
              <a:ext uri="{FF2B5EF4-FFF2-40B4-BE49-F238E27FC236}">
                <a16:creationId xmlns:a16="http://schemas.microsoft.com/office/drawing/2014/main" id="{3BD07398-EE10-6608-7220-DA9BE5BA59FF}"/>
              </a:ext>
            </a:extLst>
          </p:cNvPr>
          <p:cNvSpPr txBox="1"/>
          <p:nvPr/>
        </p:nvSpPr>
        <p:spPr>
          <a:xfrm>
            <a:off x="8183878" y="3544181"/>
            <a:ext cx="3647152" cy="369332"/>
          </a:xfrm>
          <a:prstGeom prst="rect">
            <a:avLst/>
          </a:prstGeom>
          <a:noFill/>
        </p:spPr>
        <p:txBody>
          <a:bodyPr wrap="none" rtlCol="0">
            <a:spAutoFit/>
          </a:bodyPr>
          <a:lstStyle/>
          <a:p>
            <a:r>
              <a:rPr kumimoji="1" lang="ja-JP" altLang="en-US" dirty="0"/>
              <a:t>給与指定の有無と将来投信利用率</a:t>
            </a:r>
          </a:p>
        </p:txBody>
      </p:sp>
      <p:sp>
        <p:nvSpPr>
          <p:cNvPr id="18" name="テキスト ボックス 17">
            <a:extLst>
              <a:ext uri="{FF2B5EF4-FFF2-40B4-BE49-F238E27FC236}">
                <a16:creationId xmlns:a16="http://schemas.microsoft.com/office/drawing/2014/main" id="{7213F18C-FA59-2E48-BFA7-1BFBB9F0581F}"/>
              </a:ext>
            </a:extLst>
          </p:cNvPr>
          <p:cNvSpPr txBox="1"/>
          <p:nvPr/>
        </p:nvSpPr>
        <p:spPr>
          <a:xfrm>
            <a:off x="7883622" y="6422719"/>
            <a:ext cx="4108817" cy="369332"/>
          </a:xfrm>
          <a:prstGeom prst="rect">
            <a:avLst/>
          </a:prstGeom>
          <a:noFill/>
        </p:spPr>
        <p:txBody>
          <a:bodyPr wrap="none" rtlCol="0">
            <a:spAutoFit/>
          </a:bodyPr>
          <a:lstStyle/>
          <a:p>
            <a:r>
              <a:rPr kumimoji="1" lang="ja-JP" altLang="en-US" dirty="0"/>
              <a:t>年金口座指定の有無と将来投信利用率</a:t>
            </a:r>
          </a:p>
        </p:txBody>
      </p:sp>
      <p:sp>
        <p:nvSpPr>
          <p:cNvPr id="20" name="テキスト ボックス 19">
            <a:extLst>
              <a:ext uri="{FF2B5EF4-FFF2-40B4-BE49-F238E27FC236}">
                <a16:creationId xmlns:a16="http://schemas.microsoft.com/office/drawing/2014/main" id="{6A0A4F04-F58B-927C-274C-9AE8A80AFB2A}"/>
              </a:ext>
            </a:extLst>
          </p:cNvPr>
          <p:cNvSpPr txBox="1"/>
          <p:nvPr/>
        </p:nvSpPr>
        <p:spPr>
          <a:xfrm>
            <a:off x="137160" y="1995262"/>
            <a:ext cx="1800493" cy="646331"/>
          </a:xfrm>
          <a:prstGeom prst="rect">
            <a:avLst/>
          </a:prstGeom>
          <a:noFill/>
        </p:spPr>
        <p:txBody>
          <a:bodyPr wrap="none" rtlCol="0">
            <a:spAutoFit/>
          </a:bodyPr>
          <a:lstStyle/>
          <a:p>
            <a:r>
              <a:rPr lang="ja-JP" altLang="en-US" b="1" dirty="0"/>
              <a:t>仮説合致度</a:t>
            </a:r>
            <a:r>
              <a:rPr lang="en-US" altLang="ja-JP" b="1" dirty="0"/>
              <a:t>×</a:t>
            </a:r>
          </a:p>
          <a:p>
            <a:r>
              <a:rPr kumimoji="1" lang="ja-JP" altLang="en-US" b="1" dirty="0"/>
              <a:t>使えないデータ</a:t>
            </a:r>
          </a:p>
        </p:txBody>
      </p:sp>
      <p:sp>
        <p:nvSpPr>
          <p:cNvPr id="21" name="テキスト ボックス 20">
            <a:extLst>
              <a:ext uri="{FF2B5EF4-FFF2-40B4-BE49-F238E27FC236}">
                <a16:creationId xmlns:a16="http://schemas.microsoft.com/office/drawing/2014/main" id="{3BBD39C5-B964-0DC3-6FE6-258C5EBF9CA2}"/>
              </a:ext>
            </a:extLst>
          </p:cNvPr>
          <p:cNvSpPr txBox="1"/>
          <p:nvPr/>
        </p:nvSpPr>
        <p:spPr>
          <a:xfrm>
            <a:off x="6272983" y="2463212"/>
            <a:ext cx="1569660" cy="646331"/>
          </a:xfrm>
          <a:prstGeom prst="rect">
            <a:avLst/>
          </a:prstGeom>
          <a:noFill/>
        </p:spPr>
        <p:txBody>
          <a:bodyPr wrap="none" rtlCol="0">
            <a:spAutoFit/>
          </a:bodyPr>
          <a:lstStyle/>
          <a:p>
            <a:r>
              <a:rPr lang="ja-JP" altLang="en-US" b="1" dirty="0"/>
              <a:t>仮説合致度▲</a:t>
            </a:r>
            <a:endParaRPr lang="en-US" altLang="ja-JP" b="1" dirty="0"/>
          </a:p>
          <a:p>
            <a:r>
              <a:rPr kumimoji="1" lang="ja-JP" altLang="en-US" b="1" dirty="0"/>
              <a:t>使えるデータ</a:t>
            </a:r>
          </a:p>
        </p:txBody>
      </p:sp>
    </p:spTree>
    <p:extLst>
      <p:ext uri="{BB962C8B-B14F-4D97-AF65-F5344CB8AC3E}">
        <p14:creationId xmlns:p14="http://schemas.microsoft.com/office/powerpoint/2010/main" val="1946730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コンテンツ プレースホルダー 3">
            <a:extLst>
              <a:ext uri="{FF2B5EF4-FFF2-40B4-BE49-F238E27FC236}">
                <a16:creationId xmlns:a16="http://schemas.microsoft.com/office/drawing/2014/main" id="{73575C7F-B80E-4EFB-EC77-D7AD4EBA747B}"/>
              </a:ext>
            </a:extLst>
          </p:cNvPr>
          <p:cNvGraphicFramePr>
            <a:graphicFrameLocks noGrp="1"/>
          </p:cNvGraphicFramePr>
          <p:nvPr>
            <p:ph idx="1"/>
            <p:extLst>
              <p:ext uri="{D42A27DB-BD31-4B8C-83A1-F6EECF244321}">
                <p14:modId xmlns:p14="http://schemas.microsoft.com/office/powerpoint/2010/main" val="3308249882"/>
              </p:ext>
            </p:extLst>
          </p:nvPr>
        </p:nvGraphicFramePr>
        <p:xfrm>
          <a:off x="6096000" y="1261872"/>
          <a:ext cx="5873496" cy="4056634"/>
        </p:xfrm>
        <a:graphic>
          <a:graphicData uri="http://schemas.openxmlformats.org/drawingml/2006/table">
            <a:tbl>
              <a:tblPr firstRow="1" bandRow="1">
                <a:tableStyleId>{00A15C55-8517-42AA-B614-E9B94910E393}</a:tableStyleId>
              </a:tblPr>
              <a:tblGrid>
                <a:gridCol w="1466088">
                  <a:extLst>
                    <a:ext uri="{9D8B030D-6E8A-4147-A177-3AD203B41FA5}">
                      <a16:colId xmlns:a16="http://schemas.microsoft.com/office/drawing/2014/main" val="3586771043"/>
                    </a:ext>
                  </a:extLst>
                </a:gridCol>
                <a:gridCol w="1949970">
                  <a:extLst>
                    <a:ext uri="{9D8B030D-6E8A-4147-A177-3AD203B41FA5}">
                      <a16:colId xmlns:a16="http://schemas.microsoft.com/office/drawing/2014/main" val="2126389678"/>
                    </a:ext>
                  </a:extLst>
                </a:gridCol>
                <a:gridCol w="2457438">
                  <a:extLst>
                    <a:ext uri="{9D8B030D-6E8A-4147-A177-3AD203B41FA5}">
                      <a16:colId xmlns:a16="http://schemas.microsoft.com/office/drawing/2014/main" val="2480758881"/>
                    </a:ext>
                  </a:extLst>
                </a:gridCol>
              </a:tblGrid>
              <a:tr h="813816">
                <a:tc>
                  <a:txBody>
                    <a:bodyPr/>
                    <a:lstStyle/>
                    <a:p>
                      <a:endParaRPr kumimoji="1" lang="ja-JP" altLang="en-US" dirty="0"/>
                    </a:p>
                  </a:txBody>
                  <a:tcPr/>
                </a:tc>
                <a:tc>
                  <a:txBody>
                    <a:bodyPr/>
                    <a:lstStyle/>
                    <a:p>
                      <a:r>
                        <a:rPr kumimoji="1" lang="ja-JP" altLang="en-US" dirty="0"/>
                        <a:t>現在についての</a:t>
                      </a:r>
                      <a:endParaRPr kumimoji="1" lang="en-US" altLang="ja-JP" dirty="0"/>
                    </a:p>
                    <a:p>
                      <a:r>
                        <a:rPr kumimoji="1" lang="ja-JP" altLang="en-US" dirty="0"/>
                        <a:t>分析結果</a:t>
                      </a:r>
                      <a:endParaRPr kumimoji="1" lang="en-US" altLang="ja-JP" dirty="0"/>
                    </a:p>
                  </a:txBody>
                  <a:tcPr/>
                </a:tc>
                <a:tc>
                  <a:txBody>
                    <a:bodyPr/>
                    <a:lstStyle/>
                    <a:p>
                      <a:r>
                        <a:rPr kumimoji="1" lang="ja-JP" altLang="en-US" dirty="0"/>
                        <a:t>将来についての</a:t>
                      </a:r>
                      <a:endParaRPr kumimoji="1" lang="en-US" altLang="ja-JP" dirty="0"/>
                    </a:p>
                    <a:p>
                      <a:r>
                        <a:rPr kumimoji="1" lang="ja-JP" altLang="en-US" dirty="0"/>
                        <a:t>分析結果</a:t>
                      </a:r>
                    </a:p>
                  </a:txBody>
                  <a:tcPr/>
                </a:tc>
                <a:extLst>
                  <a:ext uri="{0D108BD9-81ED-4DB2-BD59-A6C34878D82A}">
                    <a16:rowId xmlns:a16="http://schemas.microsoft.com/office/drawing/2014/main" val="1296030817"/>
                  </a:ext>
                </a:extLst>
              </a:tr>
              <a:tr h="667639">
                <a:tc>
                  <a:txBody>
                    <a:bodyPr/>
                    <a:lstStyle/>
                    <a:p>
                      <a:r>
                        <a:rPr kumimoji="1" lang="ja-JP" altLang="en-US" dirty="0"/>
                        <a:t>資産余力不足</a:t>
                      </a:r>
                    </a:p>
                  </a:txBody>
                  <a:tcPr/>
                </a:tc>
                <a:tc>
                  <a:txBody>
                    <a:bodyPr/>
                    <a:lstStyle/>
                    <a:p>
                      <a:pPr algn="ctr"/>
                      <a:r>
                        <a:rPr kumimoji="1" lang="ja-JP" altLang="en-US" sz="2800" dirty="0"/>
                        <a:t>〇</a:t>
                      </a:r>
                    </a:p>
                  </a:txBody>
                  <a:tcPr/>
                </a:tc>
                <a:tc>
                  <a:txBody>
                    <a:bodyPr/>
                    <a:lstStyle/>
                    <a:p>
                      <a:pPr algn="ctr"/>
                      <a:r>
                        <a:rPr kumimoji="1" lang="en-US" altLang="ja-JP" sz="2800" dirty="0"/>
                        <a:t>×</a:t>
                      </a:r>
                      <a:endParaRPr kumimoji="1" lang="ja-JP" altLang="en-US" sz="2800" dirty="0"/>
                    </a:p>
                  </a:txBody>
                  <a:tcPr/>
                </a:tc>
                <a:extLst>
                  <a:ext uri="{0D108BD9-81ED-4DB2-BD59-A6C34878D82A}">
                    <a16:rowId xmlns:a16="http://schemas.microsoft.com/office/drawing/2014/main" val="2275395589"/>
                  </a:ext>
                </a:extLst>
              </a:tr>
              <a:tr h="667639">
                <a:tc>
                  <a:txBody>
                    <a:bodyPr/>
                    <a:lstStyle/>
                    <a:p>
                      <a:r>
                        <a:rPr kumimoji="1" lang="ja-JP" altLang="en-US" dirty="0"/>
                        <a:t>リスク回避</a:t>
                      </a:r>
                    </a:p>
                  </a:txBody>
                  <a:tcPr/>
                </a:tc>
                <a:tc>
                  <a:txBody>
                    <a:bodyPr/>
                    <a:lstStyle/>
                    <a:p>
                      <a:pPr algn="ctr"/>
                      <a:r>
                        <a:rPr kumimoji="1" lang="en-US" altLang="ja-JP" sz="2800" dirty="0"/>
                        <a:t>×</a:t>
                      </a:r>
                      <a:endParaRPr kumimoji="1" lang="ja-JP" altLang="en-US" sz="2800" dirty="0"/>
                    </a:p>
                  </a:txBody>
                  <a:tcPr/>
                </a:tc>
                <a:tc>
                  <a:txBody>
                    <a:bodyPr/>
                    <a:lstStyle/>
                    <a:p>
                      <a:pPr algn="ctr"/>
                      <a:r>
                        <a:rPr kumimoji="1" lang="ja-JP" altLang="en-US" sz="2800" dirty="0"/>
                        <a:t>▲</a:t>
                      </a:r>
                    </a:p>
                  </a:txBody>
                  <a:tcPr/>
                </a:tc>
                <a:extLst>
                  <a:ext uri="{0D108BD9-81ED-4DB2-BD59-A6C34878D82A}">
                    <a16:rowId xmlns:a16="http://schemas.microsoft.com/office/drawing/2014/main" val="1065986037"/>
                  </a:ext>
                </a:extLst>
              </a:tr>
              <a:tr h="953770">
                <a:tc>
                  <a:txBody>
                    <a:bodyPr/>
                    <a:lstStyle/>
                    <a:p>
                      <a:r>
                        <a:rPr kumimoji="1" lang="ja-JP" altLang="en-US" dirty="0"/>
                        <a:t>金融情報リテラシー不足</a:t>
                      </a:r>
                    </a:p>
                  </a:txBody>
                  <a:tcPr/>
                </a:tc>
                <a:tc>
                  <a:txBody>
                    <a:bodyPr/>
                    <a:lstStyle/>
                    <a:p>
                      <a:pPr algn="ctr"/>
                      <a:r>
                        <a:rPr kumimoji="1" lang="en-US" altLang="ja-JP" sz="2800" dirty="0"/>
                        <a:t>×</a:t>
                      </a:r>
                      <a:endParaRPr kumimoji="1" lang="ja-JP" altLang="en-US" sz="2800" dirty="0"/>
                    </a:p>
                  </a:txBody>
                  <a:tcPr/>
                </a:tc>
                <a:tc>
                  <a:txBody>
                    <a:bodyPr/>
                    <a:lstStyle/>
                    <a:p>
                      <a:pPr algn="ctr"/>
                      <a:r>
                        <a:rPr kumimoji="1" lang="ja-JP" altLang="en-US" sz="2800" dirty="0"/>
                        <a:t>〇</a:t>
                      </a:r>
                    </a:p>
                  </a:txBody>
                  <a:tcPr/>
                </a:tc>
                <a:extLst>
                  <a:ext uri="{0D108BD9-81ED-4DB2-BD59-A6C34878D82A}">
                    <a16:rowId xmlns:a16="http://schemas.microsoft.com/office/drawing/2014/main" val="1196505153"/>
                  </a:ext>
                </a:extLst>
              </a:tr>
              <a:tr h="953770">
                <a:tc>
                  <a:txBody>
                    <a:bodyPr/>
                    <a:lstStyle/>
                    <a:p>
                      <a:r>
                        <a:rPr kumimoji="1" lang="ja-JP" altLang="en-US" dirty="0"/>
                        <a:t>メインバンクではない</a:t>
                      </a:r>
                    </a:p>
                  </a:txBody>
                  <a:tcPr/>
                </a:tc>
                <a:tc>
                  <a:txBody>
                    <a:bodyPr/>
                    <a:lstStyle/>
                    <a:p>
                      <a:pPr algn="ctr"/>
                      <a:r>
                        <a:rPr kumimoji="1" lang="en-US" altLang="ja-JP" sz="2800" dirty="0"/>
                        <a:t>×</a:t>
                      </a:r>
                      <a:endParaRPr kumimoji="1" lang="ja-JP" altLang="en-US" sz="2800" dirty="0"/>
                    </a:p>
                  </a:txBody>
                  <a:tcPr/>
                </a:tc>
                <a:tc>
                  <a:txBody>
                    <a:bodyPr/>
                    <a:lstStyle/>
                    <a:p>
                      <a:pPr algn="ctr"/>
                      <a:r>
                        <a:rPr kumimoji="1" lang="ja-JP" altLang="en-US" sz="2800" dirty="0"/>
                        <a:t>▲</a:t>
                      </a:r>
                    </a:p>
                  </a:txBody>
                  <a:tcPr/>
                </a:tc>
                <a:extLst>
                  <a:ext uri="{0D108BD9-81ED-4DB2-BD59-A6C34878D82A}">
                    <a16:rowId xmlns:a16="http://schemas.microsoft.com/office/drawing/2014/main" val="213038243"/>
                  </a:ext>
                </a:extLst>
              </a:tr>
            </a:tbl>
          </a:graphicData>
        </a:graphic>
      </p:graphicFrame>
      <p:sp>
        <p:nvSpPr>
          <p:cNvPr id="7" name="正方形/長方形 6">
            <a:extLst>
              <a:ext uri="{FF2B5EF4-FFF2-40B4-BE49-F238E27FC236}">
                <a16:creationId xmlns:a16="http://schemas.microsoft.com/office/drawing/2014/main" id="{F073EC9A-0A88-0484-83E0-BFBAF3A04F60}"/>
              </a:ext>
            </a:extLst>
          </p:cNvPr>
          <p:cNvSpPr/>
          <p:nvPr/>
        </p:nvSpPr>
        <p:spPr>
          <a:xfrm>
            <a:off x="0" y="0"/>
            <a:ext cx="12192000" cy="99669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5400" dirty="0"/>
              <a:t>基礎分析結果の考察</a:t>
            </a:r>
            <a:endParaRPr kumimoji="1" lang="ja-JP" altLang="en-US" sz="5400" dirty="0"/>
          </a:p>
        </p:txBody>
      </p:sp>
      <p:sp>
        <p:nvSpPr>
          <p:cNvPr id="8" name="テキスト ボックス 7">
            <a:extLst>
              <a:ext uri="{FF2B5EF4-FFF2-40B4-BE49-F238E27FC236}">
                <a16:creationId xmlns:a16="http://schemas.microsoft.com/office/drawing/2014/main" id="{43EA8F70-B5C9-804E-DDF5-1071B87C6448}"/>
              </a:ext>
            </a:extLst>
          </p:cNvPr>
          <p:cNvSpPr txBox="1"/>
          <p:nvPr/>
        </p:nvSpPr>
        <p:spPr>
          <a:xfrm>
            <a:off x="7946136" y="5477256"/>
            <a:ext cx="2723823" cy="369332"/>
          </a:xfrm>
          <a:prstGeom prst="rect">
            <a:avLst/>
          </a:prstGeom>
          <a:noFill/>
        </p:spPr>
        <p:txBody>
          <a:bodyPr wrap="none" rtlCol="0">
            <a:spAutoFit/>
          </a:bodyPr>
          <a:lstStyle/>
          <a:p>
            <a:r>
              <a:rPr kumimoji="1" lang="ja-JP" altLang="en-US" dirty="0"/>
              <a:t>仮説通りだったか早見表</a:t>
            </a:r>
          </a:p>
        </p:txBody>
      </p:sp>
      <p:sp>
        <p:nvSpPr>
          <p:cNvPr id="9" name="テキスト ボックス 8">
            <a:extLst>
              <a:ext uri="{FF2B5EF4-FFF2-40B4-BE49-F238E27FC236}">
                <a16:creationId xmlns:a16="http://schemas.microsoft.com/office/drawing/2014/main" id="{28B60301-605A-0EEF-D71D-55D45131909A}"/>
              </a:ext>
            </a:extLst>
          </p:cNvPr>
          <p:cNvSpPr txBox="1"/>
          <p:nvPr/>
        </p:nvSpPr>
        <p:spPr>
          <a:xfrm>
            <a:off x="0" y="1078992"/>
            <a:ext cx="3057247" cy="523220"/>
          </a:xfrm>
          <a:prstGeom prst="rect">
            <a:avLst/>
          </a:prstGeom>
          <a:noFill/>
        </p:spPr>
        <p:txBody>
          <a:bodyPr wrap="none" rtlCol="0">
            <a:spAutoFit/>
          </a:bodyPr>
          <a:lstStyle/>
          <a:p>
            <a:r>
              <a:rPr kumimoji="1" lang="ja-JP" altLang="en-US" sz="2800" b="1" dirty="0"/>
              <a:t>資金余力について</a:t>
            </a:r>
          </a:p>
        </p:txBody>
      </p:sp>
      <p:sp>
        <p:nvSpPr>
          <p:cNvPr id="11" name="テキスト ボックス 10">
            <a:extLst>
              <a:ext uri="{FF2B5EF4-FFF2-40B4-BE49-F238E27FC236}">
                <a16:creationId xmlns:a16="http://schemas.microsoft.com/office/drawing/2014/main" id="{10707107-AA34-8649-C0D9-68AF73355267}"/>
              </a:ext>
            </a:extLst>
          </p:cNvPr>
          <p:cNvSpPr txBox="1"/>
          <p:nvPr/>
        </p:nvSpPr>
        <p:spPr>
          <a:xfrm>
            <a:off x="0" y="1520194"/>
            <a:ext cx="4108817" cy="923330"/>
          </a:xfrm>
          <a:prstGeom prst="rect">
            <a:avLst/>
          </a:prstGeom>
          <a:noFill/>
        </p:spPr>
        <p:txBody>
          <a:bodyPr wrap="none" rtlCol="0">
            <a:spAutoFit/>
          </a:bodyPr>
          <a:lstStyle/>
          <a:p>
            <a:r>
              <a:rPr kumimoji="1" lang="ja-JP" altLang="en-US" dirty="0"/>
              <a:t>資産余力がない人は投資をしない</a:t>
            </a:r>
            <a:endParaRPr kumimoji="1" lang="en-US" altLang="ja-JP" dirty="0"/>
          </a:p>
          <a:p>
            <a:endParaRPr kumimoji="1" lang="en-US" altLang="ja-JP" dirty="0"/>
          </a:p>
          <a:p>
            <a:r>
              <a:rPr lang="ja-JP" altLang="en-US" dirty="0"/>
              <a:t>ローンが多い人の方がむしろ投資する</a:t>
            </a:r>
            <a:endParaRPr kumimoji="1" lang="ja-JP" altLang="en-US" dirty="0"/>
          </a:p>
        </p:txBody>
      </p:sp>
      <p:sp>
        <p:nvSpPr>
          <p:cNvPr id="12" name="テキスト ボックス 11">
            <a:extLst>
              <a:ext uri="{FF2B5EF4-FFF2-40B4-BE49-F238E27FC236}">
                <a16:creationId xmlns:a16="http://schemas.microsoft.com/office/drawing/2014/main" id="{2C67E46B-5238-D519-D9FC-49996721613F}"/>
              </a:ext>
            </a:extLst>
          </p:cNvPr>
          <p:cNvSpPr txBox="1"/>
          <p:nvPr/>
        </p:nvSpPr>
        <p:spPr>
          <a:xfrm>
            <a:off x="0" y="2330839"/>
            <a:ext cx="3416320" cy="523220"/>
          </a:xfrm>
          <a:prstGeom prst="rect">
            <a:avLst/>
          </a:prstGeom>
          <a:noFill/>
        </p:spPr>
        <p:txBody>
          <a:bodyPr wrap="none" rtlCol="0">
            <a:spAutoFit/>
          </a:bodyPr>
          <a:lstStyle/>
          <a:p>
            <a:r>
              <a:rPr kumimoji="1" lang="ja-JP" altLang="en-US" sz="2800" b="1" dirty="0"/>
              <a:t>リスク回避について</a:t>
            </a:r>
          </a:p>
        </p:txBody>
      </p:sp>
      <p:sp>
        <p:nvSpPr>
          <p:cNvPr id="14" name="テキスト ボックス 13">
            <a:extLst>
              <a:ext uri="{FF2B5EF4-FFF2-40B4-BE49-F238E27FC236}">
                <a16:creationId xmlns:a16="http://schemas.microsoft.com/office/drawing/2014/main" id="{6D245890-4D36-FD1F-C8C8-561DEE89E551}"/>
              </a:ext>
            </a:extLst>
          </p:cNvPr>
          <p:cNvSpPr txBox="1"/>
          <p:nvPr/>
        </p:nvSpPr>
        <p:spPr>
          <a:xfrm>
            <a:off x="0" y="2967023"/>
            <a:ext cx="6211957" cy="1477328"/>
          </a:xfrm>
          <a:prstGeom prst="rect">
            <a:avLst/>
          </a:prstGeom>
          <a:noFill/>
        </p:spPr>
        <p:txBody>
          <a:bodyPr wrap="none" rtlCol="0">
            <a:spAutoFit/>
          </a:bodyPr>
          <a:lstStyle/>
          <a:p>
            <a:r>
              <a:rPr lang="ja-JP" altLang="en-US" dirty="0"/>
              <a:t>投資のするかは、定期預金をしているかどうかに限らない</a:t>
            </a:r>
            <a:endParaRPr lang="en-US" altLang="ja-JP" dirty="0"/>
          </a:p>
          <a:p>
            <a:endParaRPr lang="en-US" altLang="ja-JP" dirty="0"/>
          </a:p>
          <a:p>
            <a:r>
              <a:rPr lang="ja-JP" altLang="en-US" dirty="0"/>
              <a:t>取引年数が中期的な人は投資を始めやすいが</a:t>
            </a:r>
            <a:r>
              <a:rPr lang="en-US" altLang="ja-JP" dirty="0"/>
              <a:t>48</a:t>
            </a:r>
            <a:r>
              <a:rPr lang="ja-JP" altLang="en-US" dirty="0"/>
              <a:t>年以上と長</a:t>
            </a:r>
            <a:endParaRPr lang="en-US" altLang="ja-JP" dirty="0"/>
          </a:p>
          <a:p>
            <a:r>
              <a:rPr lang="ja-JP" altLang="en-US" dirty="0"/>
              <a:t>すぎる人は始めない</a:t>
            </a:r>
            <a:endParaRPr lang="en-US" altLang="ja-JP" dirty="0"/>
          </a:p>
          <a:p>
            <a:endParaRPr kumimoji="1" lang="ja-JP" altLang="en-US" dirty="0"/>
          </a:p>
        </p:txBody>
      </p:sp>
      <p:sp>
        <p:nvSpPr>
          <p:cNvPr id="15" name="テキスト ボックス 14">
            <a:extLst>
              <a:ext uri="{FF2B5EF4-FFF2-40B4-BE49-F238E27FC236}">
                <a16:creationId xmlns:a16="http://schemas.microsoft.com/office/drawing/2014/main" id="{712DA6C4-6D1A-B906-6856-1404FD862C8B}"/>
              </a:ext>
            </a:extLst>
          </p:cNvPr>
          <p:cNvSpPr txBox="1"/>
          <p:nvPr/>
        </p:nvSpPr>
        <p:spPr>
          <a:xfrm>
            <a:off x="-73152" y="4167330"/>
            <a:ext cx="5570756" cy="523220"/>
          </a:xfrm>
          <a:prstGeom prst="rect">
            <a:avLst/>
          </a:prstGeom>
          <a:noFill/>
        </p:spPr>
        <p:txBody>
          <a:bodyPr wrap="none" rtlCol="0">
            <a:spAutoFit/>
          </a:bodyPr>
          <a:lstStyle/>
          <a:p>
            <a:r>
              <a:rPr kumimoji="1" lang="ja-JP" altLang="en-US" sz="2800" b="1" dirty="0"/>
              <a:t>金融情報リテラシー不足について</a:t>
            </a:r>
          </a:p>
        </p:txBody>
      </p:sp>
      <p:sp>
        <p:nvSpPr>
          <p:cNvPr id="16" name="テキスト ボックス 15">
            <a:extLst>
              <a:ext uri="{FF2B5EF4-FFF2-40B4-BE49-F238E27FC236}">
                <a16:creationId xmlns:a16="http://schemas.microsoft.com/office/drawing/2014/main" id="{5AC4F0F4-EBD5-6CC4-97E1-D94FFF5CAF0D}"/>
              </a:ext>
            </a:extLst>
          </p:cNvPr>
          <p:cNvSpPr txBox="1"/>
          <p:nvPr/>
        </p:nvSpPr>
        <p:spPr>
          <a:xfrm>
            <a:off x="0" y="4690829"/>
            <a:ext cx="5262979" cy="1477328"/>
          </a:xfrm>
          <a:prstGeom prst="rect">
            <a:avLst/>
          </a:prstGeom>
          <a:noFill/>
        </p:spPr>
        <p:txBody>
          <a:bodyPr wrap="none" rtlCol="0">
            <a:spAutoFit/>
          </a:bodyPr>
          <a:lstStyle/>
          <a:p>
            <a:r>
              <a:rPr kumimoji="1" lang="ja-JP" altLang="en-US" dirty="0"/>
              <a:t>アプリの利用率と現状の投資率は関係ない</a:t>
            </a:r>
            <a:endParaRPr kumimoji="1" lang="en-US" altLang="ja-JP" dirty="0"/>
          </a:p>
          <a:p>
            <a:endParaRPr lang="en-US" altLang="ja-JP" dirty="0"/>
          </a:p>
          <a:p>
            <a:r>
              <a:rPr lang="ja-JP" altLang="en-US" dirty="0"/>
              <a:t>将来地点ではアプリ利用率と</a:t>
            </a:r>
            <a:r>
              <a:rPr kumimoji="1" lang="ja-JP" altLang="en-US" dirty="0"/>
              <a:t>投資開始は関係ある</a:t>
            </a:r>
            <a:endParaRPr kumimoji="1" lang="en-US" altLang="ja-JP" dirty="0"/>
          </a:p>
          <a:p>
            <a:endParaRPr lang="en-US" altLang="ja-JP" dirty="0"/>
          </a:p>
          <a:p>
            <a:endParaRPr kumimoji="1" lang="ja-JP" altLang="en-US" dirty="0"/>
          </a:p>
        </p:txBody>
      </p:sp>
      <p:sp>
        <p:nvSpPr>
          <p:cNvPr id="17" name="テキスト ボックス 16">
            <a:extLst>
              <a:ext uri="{FF2B5EF4-FFF2-40B4-BE49-F238E27FC236}">
                <a16:creationId xmlns:a16="http://schemas.microsoft.com/office/drawing/2014/main" id="{039EF1AA-F93A-C367-EBFF-C07639FDDCFB}"/>
              </a:ext>
            </a:extLst>
          </p:cNvPr>
          <p:cNvSpPr txBox="1"/>
          <p:nvPr/>
        </p:nvSpPr>
        <p:spPr>
          <a:xfrm>
            <a:off x="-73152" y="5584978"/>
            <a:ext cx="3775393" cy="523220"/>
          </a:xfrm>
          <a:prstGeom prst="rect">
            <a:avLst/>
          </a:prstGeom>
          <a:noFill/>
        </p:spPr>
        <p:txBody>
          <a:bodyPr wrap="none" rtlCol="0">
            <a:spAutoFit/>
          </a:bodyPr>
          <a:lstStyle/>
          <a:p>
            <a:r>
              <a:rPr kumimoji="1" lang="ja-JP" altLang="en-US" sz="2800" b="1" dirty="0"/>
              <a:t>メインバンクではない</a:t>
            </a:r>
          </a:p>
        </p:txBody>
      </p:sp>
      <p:sp>
        <p:nvSpPr>
          <p:cNvPr id="18" name="テキスト ボックス 17">
            <a:extLst>
              <a:ext uri="{FF2B5EF4-FFF2-40B4-BE49-F238E27FC236}">
                <a16:creationId xmlns:a16="http://schemas.microsoft.com/office/drawing/2014/main" id="{DB725945-8C0B-B4EA-2E50-CF4473D2E47D}"/>
              </a:ext>
            </a:extLst>
          </p:cNvPr>
          <p:cNvSpPr txBox="1"/>
          <p:nvPr/>
        </p:nvSpPr>
        <p:spPr>
          <a:xfrm>
            <a:off x="-73152" y="5983491"/>
            <a:ext cx="8032968" cy="1200329"/>
          </a:xfrm>
          <a:prstGeom prst="rect">
            <a:avLst/>
          </a:prstGeom>
          <a:noFill/>
        </p:spPr>
        <p:txBody>
          <a:bodyPr wrap="none" rtlCol="0">
            <a:spAutoFit/>
          </a:bodyPr>
          <a:lstStyle/>
          <a:p>
            <a:r>
              <a:rPr kumimoji="1" lang="ja-JP" altLang="en-US" dirty="0"/>
              <a:t>給与年金振込率と現状の投資率は変わらない</a:t>
            </a:r>
            <a:endParaRPr kumimoji="1" lang="en-US" altLang="ja-JP" dirty="0"/>
          </a:p>
          <a:p>
            <a:endParaRPr lang="en-US" altLang="ja-JP" dirty="0"/>
          </a:p>
          <a:p>
            <a:r>
              <a:rPr lang="ja-JP" altLang="en-US" dirty="0"/>
              <a:t>給与振り込みが多いほど将来始める可能性が高いが年金指定口座だと低い</a:t>
            </a:r>
            <a:endParaRPr lang="en-US" altLang="ja-JP" dirty="0"/>
          </a:p>
          <a:p>
            <a:endParaRPr kumimoji="1" lang="ja-JP" altLang="en-US" dirty="0"/>
          </a:p>
        </p:txBody>
      </p:sp>
    </p:spTree>
    <p:extLst>
      <p:ext uri="{BB962C8B-B14F-4D97-AF65-F5344CB8AC3E}">
        <p14:creationId xmlns:p14="http://schemas.microsoft.com/office/powerpoint/2010/main" val="296858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445F3-F71C-64CA-71AC-C7B0A6920AC5}"/>
            </a:ext>
          </a:extLst>
        </p:cNvPr>
        <p:cNvGrpSpPr/>
        <p:nvPr/>
      </p:nvGrpSpPr>
      <p:grpSpPr>
        <a:xfrm>
          <a:off x="0" y="0"/>
          <a:ext cx="0" cy="0"/>
          <a:chOff x="0" y="0"/>
          <a:chExt cx="0" cy="0"/>
        </a:xfrm>
      </p:grpSpPr>
      <p:graphicFrame>
        <p:nvGraphicFramePr>
          <p:cNvPr id="6" name="表 5">
            <a:extLst>
              <a:ext uri="{FF2B5EF4-FFF2-40B4-BE49-F238E27FC236}">
                <a16:creationId xmlns:a16="http://schemas.microsoft.com/office/drawing/2014/main" id="{C723E842-D2F5-DB2D-F612-CAC1635FB731}"/>
              </a:ext>
            </a:extLst>
          </p:cNvPr>
          <p:cNvGraphicFramePr>
            <a:graphicFrameLocks noGrp="1"/>
          </p:cNvGraphicFramePr>
          <p:nvPr>
            <p:extLst>
              <p:ext uri="{D42A27DB-BD31-4B8C-83A1-F6EECF244321}">
                <p14:modId xmlns:p14="http://schemas.microsoft.com/office/powerpoint/2010/main" val="2994783989"/>
              </p:ext>
            </p:extLst>
          </p:nvPr>
        </p:nvGraphicFramePr>
        <p:xfrm>
          <a:off x="257556" y="1179576"/>
          <a:ext cx="4690872" cy="3555188"/>
        </p:xfrm>
        <a:graphic>
          <a:graphicData uri="http://schemas.openxmlformats.org/drawingml/2006/table">
            <a:tbl>
              <a:tblPr firstRow="1" bandRow="1">
                <a:tableStyleId>{7DF18680-E054-41AD-8BC1-D1AEF772440D}</a:tableStyleId>
              </a:tblPr>
              <a:tblGrid>
                <a:gridCol w="1563624">
                  <a:extLst>
                    <a:ext uri="{9D8B030D-6E8A-4147-A177-3AD203B41FA5}">
                      <a16:colId xmlns:a16="http://schemas.microsoft.com/office/drawing/2014/main" val="1586131987"/>
                    </a:ext>
                  </a:extLst>
                </a:gridCol>
                <a:gridCol w="1563624">
                  <a:extLst>
                    <a:ext uri="{9D8B030D-6E8A-4147-A177-3AD203B41FA5}">
                      <a16:colId xmlns:a16="http://schemas.microsoft.com/office/drawing/2014/main" val="77806837"/>
                    </a:ext>
                  </a:extLst>
                </a:gridCol>
                <a:gridCol w="1563624">
                  <a:extLst>
                    <a:ext uri="{9D8B030D-6E8A-4147-A177-3AD203B41FA5}">
                      <a16:colId xmlns:a16="http://schemas.microsoft.com/office/drawing/2014/main" val="3167933872"/>
                    </a:ext>
                  </a:extLst>
                </a:gridCol>
              </a:tblGrid>
              <a:tr h="660197">
                <a:tc>
                  <a:txBody>
                    <a:bodyPr/>
                    <a:lstStyle/>
                    <a:p>
                      <a:endParaRPr kumimoji="1" lang="ja-JP" altLang="en-US" dirty="0"/>
                    </a:p>
                  </a:txBody>
                  <a:tcPr/>
                </a:tc>
                <a:tc>
                  <a:txBody>
                    <a:bodyPr/>
                    <a:lstStyle/>
                    <a:p>
                      <a:r>
                        <a:rPr kumimoji="1" lang="ja-JP" altLang="en-US" dirty="0"/>
                        <a:t>現在についての</a:t>
                      </a:r>
                      <a:endParaRPr kumimoji="1" lang="en-US" altLang="ja-JP" dirty="0"/>
                    </a:p>
                    <a:p>
                      <a:r>
                        <a:rPr kumimoji="1" lang="ja-JP" altLang="en-US" dirty="0"/>
                        <a:t>分析結果</a:t>
                      </a:r>
                      <a:endParaRPr kumimoji="1" lang="en-US" altLang="ja-JP" dirty="0"/>
                    </a:p>
                  </a:txBody>
                  <a:tcPr/>
                </a:tc>
                <a:tc>
                  <a:txBody>
                    <a:bodyPr/>
                    <a:lstStyle/>
                    <a:p>
                      <a:r>
                        <a:rPr kumimoji="1" lang="ja-JP" altLang="en-US" dirty="0"/>
                        <a:t>将来についての</a:t>
                      </a:r>
                      <a:endParaRPr kumimoji="1" lang="en-US" altLang="ja-JP" dirty="0"/>
                    </a:p>
                    <a:p>
                      <a:r>
                        <a:rPr kumimoji="1" lang="ja-JP" altLang="en-US" dirty="0"/>
                        <a:t>分析結果</a:t>
                      </a:r>
                    </a:p>
                  </a:txBody>
                  <a:tcPr/>
                </a:tc>
                <a:extLst>
                  <a:ext uri="{0D108BD9-81ED-4DB2-BD59-A6C34878D82A}">
                    <a16:rowId xmlns:a16="http://schemas.microsoft.com/office/drawing/2014/main" val="1446185174"/>
                  </a:ext>
                </a:extLst>
              </a:tr>
              <a:tr h="660197">
                <a:tc>
                  <a:txBody>
                    <a:bodyPr/>
                    <a:lstStyle/>
                    <a:p>
                      <a:r>
                        <a:rPr kumimoji="1" lang="ja-JP" altLang="en-US" dirty="0"/>
                        <a:t>資産余力不足</a:t>
                      </a:r>
                    </a:p>
                  </a:txBody>
                  <a:tcPr/>
                </a:tc>
                <a:tc>
                  <a:txBody>
                    <a:bodyPr/>
                    <a:lstStyle/>
                    <a:p>
                      <a:pPr algn="ctr"/>
                      <a:r>
                        <a:rPr kumimoji="1" lang="ja-JP" altLang="en-US" dirty="0"/>
                        <a:t>使える</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t>使える</a:t>
                      </a:r>
                    </a:p>
                  </a:txBody>
                  <a:tcPr/>
                </a:tc>
                <a:extLst>
                  <a:ext uri="{0D108BD9-81ED-4DB2-BD59-A6C34878D82A}">
                    <a16:rowId xmlns:a16="http://schemas.microsoft.com/office/drawing/2014/main" val="2788606984"/>
                  </a:ext>
                </a:extLst>
              </a:tr>
              <a:tr h="660197">
                <a:tc>
                  <a:txBody>
                    <a:bodyPr/>
                    <a:lstStyle/>
                    <a:p>
                      <a:r>
                        <a:rPr kumimoji="1" lang="ja-JP" altLang="en-US" dirty="0"/>
                        <a:t>リスク回避</a:t>
                      </a:r>
                    </a:p>
                  </a:txBody>
                  <a:tcPr/>
                </a:tc>
                <a:tc>
                  <a:txBody>
                    <a:bodyPr/>
                    <a:lstStyle/>
                    <a:p>
                      <a:r>
                        <a:rPr kumimoji="1" lang="ja-JP" altLang="en-US" dirty="0"/>
                        <a:t>　　使えない</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t>使える</a:t>
                      </a:r>
                    </a:p>
                  </a:txBody>
                  <a:tcPr/>
                </a:tc>
                <a:extLst>
                  <a:ext uri="{0D108BD9-81ED-4DB2-BD59-A6C34878D82A}">
                    <a16:rowId xmlns:a16="http://schemas.microsoft.com/office/drawing/2014/main" val="1855396130"/>
                  </a:ext>
                </a:extLst>
              </a:tr>
              <a:tr h="660197">
                <a:tc>
                  <a:txBody>
                    <a:bodyPr/>
                    <a:lstStyle/>
                    <a:p>
                      <a:r>
                        <a:rPr kumimoji="1" lang="ja-JP" altLang="en-US" dirty="0"/>
                        <a:t>金融情報リテラシー不足</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　　使えない</a:t>
                      </a:r>
                    </a:p>
                    <a:p>
                      <a:endParaRPr kumimoji="1" lang="ja-JP"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t>使える</a:t>
                      </a:r>
                    </a:p>
                    <a:p>
                      <a:pPr algn="ctr"/>
                      <a:endParaRPr kumimoji="1" lang="ja-JP" altLang="en-US" dirty="0"/>
                    </a:p>
                  </a:txBody>
                  <a:tcPr/>
                </a:tc>
                <a:extLst>
                  <a:ext uri="{0D108BD9-81ED-4DB2-BD59-A6C34878D82A}">
                    <a16:rowId xmlns:a16="http://schemas.microsoft.com/office/drawing/2014/main" val="3355123689"/>
                  </a:ext>
                </a:extLst>
              </a:tr>
              <a:tr h="660197">
                <a:tc>
                  <a:txBody>
                    <a:bodyPr/>
                    <a:lstStyle/>
                    <a:p>
                      <a:r>
                        <a:rPr kumimoji="1" lang="ja-JP" altLang="en-US" dirty="0"/>
                        <a:t>メインバンクではない</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　　使えない</a:t>
                      </a:r>
                    </a:p>
                    <a:p>
                      <a:endParaRPr kumimoji="1" lang="ja-JP"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t>使える</a:t>
                      </a:r>
                    </a:p>
                    <a:p>
                      <a:pPr algn="ctr"/>
                      <a:endParaRPr kumimoji="1" lang="ja-JP" altLang="en-US" dirty="0"/>
                    </a:p>
                  </a:txBody>
                  <a:tcPr/>
                </a:tc>
                <a:extLst>
                  <a:ext uri="{0D108BD9-81ED-4DB2-BD59-A6C34878D82A}">
                    <a16:rowId xmlns:a16="http://schemas.microsoft.com/office/drawing/2014/main" val="458340472"/>
                  </a:ext>
                </a:extLst>
              </a:tr>
            </a:tbl>
          </a:graphicData>
        </a:graphic>
      </p:graphicFrame>
      <p:sp>
        <p:nvSpPr>
          <p:cNvPr id="7" name="正方形/長方形 6">
            <a:extLst>
              <a:ext uri="{FF2B5EF4-FFF2-40B4-BE49-F238E27FC236}">
                <a16:creationId xmlns:a16="http://schemas.microsoft.com/office/drawing/2014/main" id="{CB196C61-79C4-35EF-F0BC-D1C3B98B83DF}"/>
              </a:ext>
            </a:extLst>
          </p:cNvPr>
          <p:cNvSpPr/>
          <p:nvPr/>
        </p:nvSpPr>
        <p:spPr>
          <a:xfrm>
            <a:off x="0" y="0"/>
            <a:ext cx="12192000" cy="99669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5400" dirty="0"/>
              <a:t>モデル構築</a:t>
            </a:r>
          </a:p>
        </p:txBody>
      </p:sp>
      <p:pic>
        <p:nvPicPr>
          <p:cNvPr id="5" name="図 4">
            <a:extLst>
              <a:ext uri="{FF2B5EF4-FFF2-40B4-BE49-F238E27FC236}">
                <a16:creationId xmlns:a16="http://schemas.microsoft.com/office/drawing/2014/main" id="{967FF320-0D7D-DA48-51E9-600CC0A1A150}"/>
              </a:ext>
            </a:extLst>
          </p:cNvPr>
          <p:cNvPicPr>
            <a:picLocks noChangeAspect="1"/>
          </p:cNvPicPr>
          <p:nvPr/>
        </p:nvPicPr>
        <p:blipFill>
          <a:blip r:embed="rId2"/>
          <a:stretch>
            <a:fillRect/>
          </a:stretch>
        </p:blipFill>
        <p:spPr>
          <a:xfrm>
            <a:off x="5486400" y="3988929"/>
            <a:ext cx="3697224" cy="2739257"/>
          </a:xfrm>
          <a:prstGeom prst="rect">
            <a:avLst/>
          </a:prstGeom>
        </p:spPr>
      </p:pic>
      <p:sp>
        <p:nvSpPr>
          <p:cNvPr id="8" name="テキスト ボックス 7">
            <a:extLst>
              <a:ext uri="{FF2B5EF4-FFF2-40B4-BE49-F238E27FC236}">
                <a16:creationId xmlns:a16="http://schemas.microsoft.com/office/drawing/2014/main" id="{5BC5184A-447F-11DC-2BFA-793A9CFE5028}"/>
              </a:ext>
            </a:extLst>
          </p:cNvPr>
          <p:cNvSpPr txBox="1"/>
          <p:nvPr/>
        </p:nvSpPr>
        <p:spPr>
          <a:xfrm>
            <a:off x="9418701" y="5410057"/>
            <a:ext cx="1188146" cy="369332"/>
          </a:xfrm>
          <a:prstGeom prst="rect">
            <a:avLst/>
          </a:prstGeom>
          <a:noFill/>
        </p:spPr>
        <p:txBody>
          <a:bodyPr wrap="none" rtlCol="0">
            <a:spAutoFit/>
          </a:bodyPr>
          <a:lstStyle/>
          <a:p>
            <a:r>
              <a:rPr kumimoji="1" lang="ja-JP" altLang="en-US" sz="900" dirty="0"/>
              <a:t>目的変数</a:t>
            </a:r>
            <a:endParaRPr kumimoji="1" lang="en-US" altLang="ja-JP" sz="900" dirty="0"/>
          </a:p>
          <a:p>
            <a:r>
              <a:rPr lang="en-US" altLang="ja-JP" sz="900" dirty="0"/>
              <a:t>TS_STK_SNK_FLG</a:t>
            </a:r>
            <a:endParaRPr kumimoji="1" lang="ja-JP" altLang="en-US" sz="900" dirty="0"/>
          </a:p>
        </p:txBody>
      </p:sp>
      <p:sp>
        <p:nvSpPr>
          <p:cNvPr id="9" name="テキスト ボックス 8">
            <a:extLst>
              <a:ext uri="{FF2B5EF4-FFF2-40B4-BE49-F238E27FC236}">
                <a16:creationId xmlns:a16="http://schemas.microsoft.com/office/drawing/2014/main" id="{294F5159-90D7-BC51-B039-9378F4C61C90}"/>
              </a:ext>
            </a:extLst>
          </p:cNvPr>
          <p:cNvSpPr txBox="1"/>
          <p:nvPr/>
        </p:nvSpPr>
        <p:spPr>
          <a:xfrm>
            <a:off x="9418701" y="6078355"/>
            <a:ext cx="2773299" cy="707886"/>
          </a:xfrm>
          <a:prstGeom prst="rect">
            <a:avLst/>
          </a:prstGeom>
          <a:noFill/>
        </p:spPr>
        <p:txBody>
          <a:bodyPr wrap="square">
            <a:spAutoFit/>
          </a:bodyPr>
          <a:lstStyle/>
          <a:p>
            <a:r>
              <a:rPr lang="ja-JP" altLang="en-US" sz="1000" dirty="0"/>
              <a:t>使用した説明変数</a:t>
            </a:r>
            <a:endParaRPr lang="en-US" altLang="ja-JP" sz="1000" dirty="0"/>
          </a:p>
          <a:p>
            <a:r>
              <a:rPr lang="en-US" altLang="ja-JP" sz="1000" dirty="0"/>
              <a:t>AGE CTGR, BK TRHK NEN CTGR, BK TRHK KSH CTGR, KYY FRKM FLG, APP USE FLG, ALL LN, KNGT ALL </a:t>
            </a:r>
            <a:endParaRPr lang="ja-JP" altLang="en-US" sz="1000" dirty="0"/>
          </a:p>
        </p:txBody>
      </p:sp>
      <p:sp>
        <p:nvSpPr>
          <p:cNvPr id="10" name="テキスト ボックス 9">
            <a:extLst>
              <a:ext uri="{FF2B5EF4-FFF2-40B4-BE49-F238E27FC236}">
                <a16:creationId xmlns:a16="http://schemas.microsoft.com/office/drawing/2014/main" id="{914C7E72-E617-53FF-F36B-1F3BB451648A}"/>
              </a:ext>
            </a:extLst>
          </p:cNvPr>
          <p:cNvSpPr txBox="1"/>
          <p:nvPr/>
        </p:nvSpPr>
        <p:spPr>
          <a:xfrm>
            <a:off x="257556" y="4917644"/>
            <a:ext cx="4801314" cy="369332"/>
          </a:xfrm>
          <a:prstGeom prst="rect">
            <a:avLst/>
          </a:prstGeom>
          <a:noFill/>
        </p:spPr>
        <p:txBody>
          <a:bodyPr wrap="none" rtlCol="0">
            <a:spAutoFit/>
          </a:bodyPr>
          <a:lstStyle/>
          <a:p>
            <a:r>
              <a:rPr kumimoji="1" lang="ja-JP" altLang="en-US" dirty="0"/>
              <a:t>得られた基礎分析から使えるデータの早見表</a:t>
            </a:r>
          </a:p>
        </p:txBody>
      </p:sp>
      <p:sp>
        <p:nvSpPr>
          <p:cNvPr id="11" name="テキスト ボックス 10">
            <a:extLst>
              <a:ext uri="{FF2B5EF4-FFF2-40B4-BE49-F238E27FC236}">
                <a16:creationId xmlns:a16="http://schemas.microsoft.com/office/drawing/2014/main" id="{D004CFE4-19CE-2549-BC55-1AE131F983F9}"/>
              </a:ext>
            </a:extLst>
          </p:cNvPr>
          <p:cNvSpPr txBox="1"/>
          <p:nvPr/>
        </p:nvSpPr>
        <p:spPr>
          <a:xfrm>
            <a:off x="5486400" y="2218506"/>
            <a:ext cx="6186309" cy="1477328"/>
          </a:xfrm>
          <a:prstGeom prst="rect">
            <a:avLst/>
          </a:prstGeom>
          <a:noFill/>
        </p:spPr>
        <p:txBody>
          <a:bodyPr wrap="none" rtlCol="0">
            <a:spAutoFit/>
          </a:bodyPr>
          <a:lstStyle/>
          <a:p>
            <a:r>
              <a:rPr kumimoji="1" lang="ja-JP" altLang="en-US" dirty="0"/>
              <a:t>・資金余力不足</a:t>
            </a:r>
            <a:r>
              <a:rPr lang="ja-JP" altLang="en-US" dirty="0"/>
              <a:t>の口座引き落とし失敗している人々は除外</a:t>
            </a:r>
            <a:endParaRPr lang="en-US" altLang="ja-JP" dirty="0"/>
          </a:p>
          <a:p>
            <a:r>
              <a:rPr kumimoji="1" lang="ja-JP" altLang="en-US" dirty="0"/>
              <a:t>・すでに投資信託</a:t>
            </a:r>
            <a:r>
              <a:rPr kumimoji="1" lang="en-US" altLang="ja-JP" dirty="0"/>
              <a:t>NISA</a:t>
            </a:r>
            <a:r>
              <a:rPr kumimoji="1" lang="ja-JP" altLang="en-US" dirty="0"/>
              <a:t>をしている人は除外</a:t>
            </a:r>
            <a:endParaRPr kumimoji="1" lang="en-US" altLang="ja-JP" dirty="0"/>
          </a:p>
          <a:p>
            <a:r>
              <a:rPr kumimoji="1" lang="ja-JP" altLang="en-US" dirty="0"/>
              <a:t>・取引年数</a:t>
            </a:r>
            <a:r>
              <a:rPr kumimoji="1" lang="en-US" altLang="ja-JP" dirty="0"/>
              <a:t>48</a:t>
            </a:r>
            <a:r>
              <a:rPr kumimoji="1" lang="ja-JP" altLang="en-US" dirty="0"/>
              <a:t>年以下の人に限定</a:t>
            </a:r>
            <a:endParaRPr kumimoji="1" lang="en-US" altLang="ja-JP" dirty="0"/>
          </a:p>
          <a:p>
            <a:r>
              <a:rPr lang="ja-JP" altLang="en-US" dirty="0"/>
              <a:t>・年金指定口座にしている人を除外</a:t>
            </a:r>
            <a:endParaRPr kumimoji="1" lang="en-US" altLang="ja-JP" dirty="0"/>
          </a:p>
          <a:p>
            <a:r>
              <a:rPr kumimoji="1" lang="ja-JP" altLang="en-US" dirty="0"/>
              <a:t>・欠損値は</a:t>
            </a:r>
            <a:r>
              <a:rPr lang="ja-JP" altLang="en-US" dirty="0"/>
              <a:t>すべての値の平均</a:t>
            </a:r>
            <a:r>
              <a:rPr kumimoji="1" lang="ja-JP" altLang="en-US" dirty="0"/>
              <a:t>とする</a:t>
            </a:r>
            <a:endParaRPr kumimoji="1" lang="en-US" altLang="ja-JP" dirty="0"/>
          </a:p>
        </p:txBody>
      </p:sp>
    </p:spTree>
    <p:extLst>
      <p:ext uri="{BB962C8B-B14F-4D97-AF65-F5344CB8AC3E}">
        <p14:creationId xmlns:p14="http://schemas.microsoft.com/office/powerpoint/2010/main" val="9796502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77AF0-9808-3E1C-93D9-3ECDD9F5A1F6}"/>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5861551C-5016-224B-D5C6-31DCCCA08C15}"/>
              </a:ext>
            </a:extLst>
          </p:cNvPr>
          <p:cNvSpPr/>
          <p:nvPr/>
        </p:nvSpPr>
        <p:spPr>
          <a:xfrm>
            <a:off x="0" y="0"/>
            <a:ext cx="12192000" cy="99669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5400" dirty="0"/>
              <a:t>予測モデルの結果と評価</a:t>
            </a:r>
          </a:p>
        </p:txBody>
      </p:sp>
      <p:sp>
        <p:nvSpPr>
          <p:cNvPr id="9" name="テキスト ボックス 8">
            <a:extLst>
              <a:ext uri="{FF2B5EF4-FFF2-40B4-BE49-F238E27FC236}">
                <a16:creationId xmlns:a16="http://schemas.microsoft.com/office/drawing/2014/main" id="{364613DD-1BC1-ECF3-C390-1FD66E93CEBA}"/>
              </a:ext>
            </a:extLst>
          </p:cNvPr>
          <p:cNvSpPr txBox="1"/>
          <p:nvPr/>
        </p:nvSpPr>
        <p:spPr>
          <a:xfrm>
            <a:off x="1929384" y="5998464"/>
            <a:ext cx="3651962" cy="369332"/>
          </a:xfrm>
          <a:prstGeom prst="rect">
            <a:avLst/>
          </a:prstGeom>
          <a:noFill/>
        </p:spPr>
        <p:txBody>
          <a:bodyPr wrap="none" rtlCol="0">
            <a:spAutoFit/>
          </a:bodyPr>
          <a:lstStyle/>
          <a:p>
            <a:r>
              <a:rPr lang="ja-JP" altLang="en-US" dirty="0"/>
              <a:t>正答率</a:t>
            </a:r>
            <a:r>
              <a:rPr lang="en-US" altLang="ja-JP" dirty="0"/>
              <a:t>63.9  </a:t>
            </a:r>
            <a:r>
              <a:rPr lang="ja-JP" altLang="en-US" dirty="0"/>
              <a:t>％、</a:t>
            </a:r>
            <a:r>
              <a:rPr lang="en-US" altLang="ja-JP" dirty="0"/>
              <a:t>F-1</a:t>
            </a:r>
            <a:r>
              <a:rPr lang="ja-JP" altLang="en-US" dirty="0"/>
              <a:t>スコア</a:t>
            </a:r>
            <a:r>
              <a:rPr lang="en-US" altLang="ja-JP" dirty="0"/>
              <a:t>40.6</a:t>
            </a:r>
            <a:r>
              <a:rPr lang="ja-JP" altLang="en-US" dirty="0"/>
              <a:t>％</a:t>
            </a:r>
            <a:endParaRPr kumimoji="1" lang="ja-JP" altLang="en-US" dirty="0"/>
          </a:p>
        </p:txBody>
      </p:sp>
      <p:sp>
        <p:nvSpPr>
          <p:cNvPr id="11" name="テキスト ボックス 10">
            <a:extLst>
              <a:ext uri="{FF2B5EF4-FFF2-40B4-BE49-F238E27FC236}">
                <a16:creationId xmlns:a16="http://schemas.microsoft.com/office/drawing/2014/main" id="{4F07C5CB-3110-1B50-71C9-CFAE71BAA820}"/>
              </a:ext>
            </a:extLst>
          </p:cNvPr>
          <p:cNvSpPr txBox="1"/>
          <p:nvPr/>
        </p:nvSpPr>
        <p:spPr>
          <a:xfrm>
            <a:off x="7492206" y="2406658"/>
            <a:ext cx="4821174" cy="553998"/>
          </a:xfrm>
          <a:prstGeom prst="rect">
            <a:avLst/>
          </a:prstGeom>
          <a:noFill/>
        </p:spPr>
        <p:txBody>
          <a:bodyPr wrap="square">
            <a:spAutoFit/>
          </a:bodyPr>
          <a:lstStyle/>
          <a:p>
            <a:r>
              <a:rPr lang="ja-JP" altLang="en-US" sz="1000" dirty="0"/>
              <a:t>使用した説明変数</a:t>
            </a:r>
            <a:endParaRPr lang="en-US" altLang="ja-JP" sz="1000" dirty="0"/>
          </a:p>
          <a:p>
            <a:r>
              <a:rPr lang="en-US" altLang="ja-JP" sz="1000" dirty="0"/>
              <a:t>AGE CTGR, BK TRHK NEN CTGR, BK TRHK KSH CTGR, KYY FRKM FLG,, APP USE FLG, ALL LN, KNGT ALL </a:t>
            </a:r>
            <a:endParaRPr lang="ja-JP" altLang="en-US" sz="1000" dirty="0"/>
          </a:p>
        </p:txBody>
      </p:sp>
      <p:sp>
        <p:nvSpPr>
          <p:cNvPr id="12" name="テキスト ボックス 11">
            <a:extLst>
              <a:ext uri="{FF2B5EF4-FFF2-40B4-BE49-F238E27FC236}">
                <a16:creationId xmlns:a16="http://schemas.microsoft.com/office/drawing/2014/main" id="{6464E269-439A-F5F2-06F2-5DA03D281E93}"/>
              </a:ext>
            </a:extLst>
          </p:cNvPr>
          <p:cNvSpPr txBox="1"/>
          <p:nvPr/>
        </p:nvSpPr>
        <p:spPr>
          <a:xfrm>
            <a:off x="7492206" y="1723882"/>
            <a:ext cx="1188146" cy="369332"/>
          </a:xfrm>
          <a:prstGeom prst="rect">
            <a:avLst/>
          </a:prstGeom>
          <a:noFill/>
        </p:spPr>
        <p:txBody>
          <a:bodyPr wrap="none" rtlCol="0">
            <a:spAutoFit/>
          </a:bodyPr>
          <a:lstStyle/>
          <a:p>
            <a:r>
              <a:rPr kumimoji="1" lang="ja-JP" altLang="en-US" sz="900" dirty="0"/>
              <a:t>目的変数</a:t>
            </a:r>
            <a:endParaRPr kumimoji="1" lang="en-US" altLang="ja-JP" sz="900" dirty="0"/>
          </a:p>
          <a:p>
            <a:r>
              <a:rPr lang="en-US" altLang="ja-JP" sz="900" dirty="0"/>
              <a:t>TS_STK_SNK_FLG</a:t>
            </a:r>
            <a:endParaRPr kumimoji="1" lang="ja-JP" altLang="en-US" sz="900" dirty="0"/>
          </a:p>
        </p:txBody>
      </p:sp>
      <p:pic>
        <p:nvPicPr>
          <p:cNvPr id="3" name="図 2">
            <a:extLst>
              <a:ext uri="{FF2B5EF4-FFF2-40B4-BE49-F238E27FC236}">
                <a16:creationId xmlns:a16="http://schemas.microsoft.com/office/drawing/2014/main" id="{15D70910-B6C0-06C0-D676-CAC1C92C76F4}"/>
              </a:ext>
            </a:extLst>
          </p:cNvPr>
          <p:cNvPicPr>
            <a:picLocks noChangeAspect="1"/>
          </p:cNvPicPr>
          <p:nvPr/>
        </p:nvPicPr>
        <p:blipFill>
          <a:blip r:embed="rId2"/>
          <a:stretch>
            <a:fillRect/>
          </a:stretch>
        </p:blipFill>
        <p:spPr>
          <a:xfrm>
            <a:off x="543813" y="1040416"/>
            <a:ext cx="6204459" cy="4647152"/>
          </a:xfrm>
          <a:prstGeom prst="rect">
            <a:avLst/>
          </a:prstGeom>
        </p:spPr>
      </p:pic>
      <p:sp>
        <p:nvSpPr>
          <p:cNvPr id="5" name="テキスト ボックス 4">
            <a:extLst>
              <a:ext uri="{FF2B5EF4-FFF2-40B4-BE49-F238E27FC236}">
                <a16:creationId xmlns:a16="http://schemas.microsoft.com/office/drawing/2014/main" id="{8BD5AFC7-972B-ECB1-DCCA-E12200D4F5DC}"/>
              </a:ext>
            </a:extLst>
          </p:cNvPr>
          <p:cNvSpPr txBox="1"/>
          <p:nvPr/>
        </p:nvSpPr>
        <p:spPr>
          <a:xfrm>
            <a:off x="6467356" y="4798135"/>
            <a:ext cx="5032147" cy="1200329"/>
          </a:xfrm>
          <a:prstGeom prst="rect">
            <a:avLst/>
          </a:prstGeom>
          <a:noFill/>
        </p:spPr>
        <p:txBody>
          <a:bodyPr wrap="none" rtlCol="0">
            <a:spAutoFit/>
          </a:bodyPr>
          <a:lstStyle/>
          <a:p>
            <a:r>
              <a:rPr kumimoji="1" lang="en-US" altLang="ja-JP" dirty="0"/>
              <a:t>F-1</a:t>
            </a:r>
            <a:r>
              <a:rPr kumimoji="1" lang="ja-JP" altLang="en-US" dirty="0"/>
              <a:t>スコアが致命的に低い</a:t>
            </a:r>
            <a:endParaRPr kumimoji="1" lang="en-US" altLang="ja-JP" dirty="0"/>
          </a:p>
          <a:p>
            <a:r>
              <a:rPr lang="ja-JP" altLang="en-US" dirty="0"/>
              <a:t>正答率は</a:t>
            </a:r>
            <a:r>
              <a:rPr lang="en-US" altLang="ja-JP" dirty="0"/>
              <a:t>6</a:t>
            </a:r>
            <a:r>
              <a:rPr lang="ja-JP" altLang="en-US" dirty="0"/>
              <a:t>割以上であったので富裕層</a:t>
            </a:r>
            <a:endParaRPr lang="en-US" altLang="ja-JP" dirty="0"/>
          </a:p>
          <a:p>
            <a:r>
              <a:rPr lang="ja-JP" altLang="en-US" dirty="0"/>
              <a:t>に営業をかけるときの優先度を占う程度</a:t>
            </a:r>
            <a:endParaRPr lang="en-US" altLang="ja-JP" dirty="0"/>
          </a:p>
          <a:p>
            <a:r>
              <a:rPr lang="ja-JP" altLang="en-US" dirty="0"/>
              <a:t>で使えるかもしれないレベルのモデルができた</a:t>
            </a:r>
            <a:endParaRPr lang="en-US" altLang="ja-JP" dirty="0"/>
          </a:p>
        </p:txBody>
      </p:sp>
    </p:spTree>
    <p:extLst>
      <p:ext uri="{BB962C8B-B14F-4D97-AF65-F5344CB8AC3E}">
        <p14:creationId xmlns:p14="http://schemas.microsoft.com/office/powerpoint/2010/main" val="3352917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72D0C-135B-C477-8F42-867304494C39}"/>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42F3D667-BCC0-7079-92E1-6CD72CBCD9CE}"/>
              </a:ext>
            </a:extLst>
          </p:cNvPr>
          <p:cNvSpPr/>
          <p:nvPr/>
        </p:nvSpPr>
        <p:spPr>
          <a:xfrm>
            <a:off x="0" y="0"/>
            <a:ext cx="12192000" cy="99669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5400" dirty="0"/>
              <a:t>分析結果からの施策提案</a:t>
            </a:r>
            <a:endParaRPr kumimoji="1" lang="ja-JP" altLang="en-US" sz="5400" dirty="0"/>
          </a:p>
        </p:txBody>
      </p:sp>
      <p:sp>
        <p:nvSpPr>
          <p:cNvPr id="3" name="テキスト ボックス 2">
            <a:extLst>
              <a:ext uri="{FF2B5EF4-FFF2-40B4-BE49-F238E27FC236}">
                <a16:creationId xmlns:a16="http://schemas.microsoft.com/office/drawing/2014/main" id="{354F4B99-FBA6-63B2-A3C9-F79231AC2A37}"/>
              </a:ext>
            </a:extLst>
          </p:cNvPr>
          <p:cNvSpPr txBox="1"/>
          <p:nvPr/>
        </p:nvSpPr>
        <p:spPr>
          <a:xfrm>
            <a:off x="219455" y="1933017"/>
            <a:ext cx="5924549" cy="6771084"/>
          </a:xfrm>
          <a:prstGeom prst="rect">
            <a:avLst/>
          </a:prstGeom>
          <a:noFill/>
        </p:spPr>
        <p:txBody>
          <a:bodyPr wrap="square" rtlCol="0">
            <a:spAutoFit/>
          </a:bodyPr>
          <a:lstStyle/>
          <a:p>
            <a:r>
              <a:rPr kumimoji="1" lang="ja-JP" altLang="en-US" sz="3200" dirty="0"/>
              <a:t>・ローンの金額やローンの数が多い人への営業</a:t>
            </a:r>
            <a:endParaRPr kumimoji="1" lang="en-US" altLang="ja-JP" sz="3200" dirty="0"/>
          </a:p>
          <a:p>
            <a:endParaRPr lang="en-US" altLang="ja-JP" sz="3200" dirty="0"/>
          </a:p>
          <a:p>
            <a:r>
              <a:rPr kumimoji="1" lang="ja-JP" altLang="en-US" sz="3200" dirty="0"/>
              <a:t>・アプリを利用している人で新規が多いのでアプリによる</a:t>
            </a:r>
            <a:r>
              <a:rPr lang="ja-JP" altLang="en-US" sz="3200" dirty="0"/>
              <a:t>投資のプロモーション強化</a:t>
            </a:r>
            <a:endParaRPr lang="en-US" altLang="ja-JP" sz="3200" dirty="0"/>
          </a:p>
          <a:p>
            <a:endParaRPr kumimoji="1" lang="en-US" altLang="ja-JP" sz="3200" dirty="0"/>
          </a:p>
          <a:p>
            <a:r>
              <a:rPr lang="ja-JP" altLang="en-US" sz="3200" dirty="0"/>
              <a:t>・</a:t>
            </a:r>
            <a:r>
              <a:rPr lang="en-US" altLang="ja-JP" sz="3200" dirty="0"/>
              <a:t>5</a:t>
            </a:r>
            <a:r>
              <a:rPr lang="ja-JP" altLang="en-US" sz="3200" dirty="0"/>
              <a:t>年から</a:t>
            </a:r>
            <a:r>
              <a:rPr lang="en-US" altLang="ja-JP" sz="3200" dirty="0"/>
              <a:t>40</a:t>
            </a:r>
            <a:r>
              <a:rPr lang="ja-JP" altLang="en-US" sz="3200" dirty="0"/>
              <a:t>年くらいの間口座を契約している人々への営業</a:t>
            </a:r>
            <a:endParaRPr kumimoji="1" lang="en-US" altLang="ja-JP" sz="3200" dirty="0"/>
          </a:p>
          <a:p>
            <a:endParaRPr lang="en-US" altLang="ja-JP" sz="3200" dirty="0"/>
          </a:p>
          <a:p>
            <a:endParaRPr kumimoji="1" lang="en-US" altLang="ja-JP" sz="3200" dirty="0"/>
          </a:p>
          <a:p>
            <a:endParaRPr lang="en-US" altLang="ja-JP" sz="3200" dirty="0"/>
          </a:p>
          <a:p>
            <a:endParaRPr kumimoji="1" lang="en-US" altLang="ja-JP" sz="3200" dirty="0"/>
          </a:p>
          <a:p>
            <a:endParaRPr kumimoji="1" lang="ja-JP" altLang="en-US" dirty="0"/>
          </a:p>
        </p:txBody>
      </p:sp>
      <p:sp>
        <p:nvSpPr>
          <p:cNvPr id="6" name="テキスト ボックス 5">
            <a:extLst>
              <a:ext uri="{FF2B5EF4-FFF2-40B4-BE49-F238E27FC236}">
                <a16:creationId xmlns:a16="http://schemas.microsoft.com/office/drawing/2014/main" id="{643F61B6-75AC-CAA9-909B-4030062FB8FB}"/>
              </a:ext>
            </a:extLst>
          </p:cNvPr>
          <p:cNvSpPr txBox="1"/>
          <p:nvPr/>
        </p:nvSpPr>
        <p:spPr>
          <a:xfrm>
            <a:off x="6181726" y="1933017"/>
            <a:ext cx="5924549" cy="3816429"/>
          </a:xfrm>
          <a:prstGeom prst="rect">
            <a:avLst/>
          </a:prstGeom>
          <a:noFill/>
        </p:spPr>
        <p:txBody>
          <a:bodyPr wrap="square" rtlCol="0">
            <a:spAutoFit/>
          </a:bodyPr>
          <a:lstStyle/>
          <a:p>
            <a:r>
              <a:rPr kumimoji="1" lang="ja-JP" altLang="en-US" sz="3200" dirty="0"/>
              <a:t>・資金余力不足</a:t>
            </a:r>
            <a:r>
              <a:rPr lang="ja-JP" altLang="en-US" sz="3200" dirty="0"/>
              <a:t>の口座引き落としを失敗している人々</a:t>
            </a:r>
            <a:endParaRPr kumimoji="1" lang="en-US" altLang="ja-JP" sz="3200" dirty="0"/>
          </a:p>
          <a:p>
            <a:endParaRPr kumimoji="1" lang="en-US" altLang="ja-JP" sz="3200" dirty="0"/>
          </a:p>
          <a:p>
            <a:r>
              <a:rPr kumimoji="1" lang="ja-JP" altLang="en-US" sz="3200" dirty="0"/>
              <a:t>・</a:t>
            </a:r>
            <a:r>
              <a:rPr kumimoji="1" lang="en-US" altLang="ja-JP" sz="3200" dirty="0"/>
              <a:t>48</a:t>
            </a:r>
            <a:r>
              <a:rPr kumimoji="1" lang="ja-JP" altLang="en-US" sz="3200" dirty="0"/>
              <a:t>年年以上口座を契約している人々</a:t>
            </a:r>
            <a:endParaRPr kumimoji="1" lang="en-US" altLang="ja-JP" sz="3200" dirty="0"/>
          </a:p>
          <a:p>
            <a:endParaRPr kumimoji="1" lang="en-US" altLang="ja-JP" sz="3200" dirty="0"/>
          </a:p>
          <a:p>
            <a:r>
              <a:rPr lang="ja-JP" altLang="en-US" sz="3200" dirty="0"/>
              <a:t>・年金指定口座にしている人々</a:t>
            </a:r>
            <a:endParaRPr kumimoji="1" lang="en-US" altLang="ja-JP" sz="3200" dirty="0"/>
          </a:p>
          <a:p>
            <a:endParaRPr kumimoji="1" lang="en-US" altLang="ja-JP" dirty="0"/>
          </a:p>
        </p:txBody>
      </p:sp>
      <p:sp>
        <p:nvSpPr>
          <p:cNvPr id="7" name="テキスト ボックス 6">
            <a:extLst>
              <a:ext uri="{FF2B5EF4-FFF2-40B4-BE49-F238E27FC236}">
                <a16:creationId xmlns:a16="http://schemas.microsoft.com/office/drawing/2014/main" id="{21C14101-6478-0B2A-8A6F-020FF5A47047}"/>
              </a:ext>
            </a:extLst>
          </p:cNvPr>
          <p:cNvSpPr txBox="1"/>
          <p:nvPr/>
        </p:nvSpPr>
        <p:spPr>
          <a:xfrm>
            <a:off x="6400800" y="1108554"/>
            <a:ext cx="3416320" cy="646331"/>
          </a:xfrm>
          <a:prstGeom prst="rect">
            <a:avLst/>
          </a:prstGeom>
          <a:noFill/>
        </p:spPr>
        <p:txBody>
          <a:bodyPr wrap="none" rtlCol="0">
            <a:spAutoFit/>
          </a:bodyPr>
          <a:lstStyle/>
          <a:p>
            <a:r>
              <a:rPr kumimoji="1" lang="ja-JP" altLang="en-US" sz="3600" b="1" dirty="0"/>
              <a:t>優先度が低い人</a:t>
            </a:r>
          </a:p>
        </p:txBody>
      </p:sp>
      <p:sp>
        <p:nvSpPr>
          <p:cNvPr id="8" name="テキスト ボックス 7">
            <a:extLst>
              <a:ext uri="{FF2B5EF4-FFF2-40B4-BE49-F238E27FC236}">
                <a16:creationId xmlns:a16="http://schemas.microsoft.com/office/drawing/2014/main" id="{FE1233FB-0036-5C51-3808-5DAA8CE7DA2C}"/>
              </a:ext>
            </a:extLst>
          </p:cNvPr>
          <p:cNvSpPr txBox="1"/>
          <p:nvPr/>
        </p:nvSpPr>
        <p:spPr>
          <a:xfrm>
            <a:off x="219455" y="1108553"/>
            <a:ext cx="3416320" cy="646331"/>
          </a:xfrm>
          <a:prstGeom prst="rect">
            <a:avLst/>
          </a:prstGeom>
          <a:noFill/>
        </p:spPr>
        <p:txBody>
          <a:bodyPr wrap="none" rtlCol="0">
            <a:spAutoFit/>
          </a:bodyPr>
          <a:lstStyle/>
          <a:p>
            <a:r>
              <a:rPr kumimoji="1" lang="ja-JP" altLang="en-US" sz="3600" b="1" dirty="0"/>
              <a:t>優先度が高い人</a:t>
            </a:r>
          </a:p>
        </p:txBody>
      </p:sp>
      <p:cxnSp>
        <p:nvCxnSpPr>
          <p:cNvPr id="5" name="直線コネクタ 4">
            <a:extLst>
              <a:ext uri="{FF2B5EF4-FFF2-40B4-BE49-F238E27FC236}">
                <a16:creationId xmlns:a16="http://schemas.microsoft.com/office/drawing/2014/main" id="{A101ECD2-ADFE-A9F9-1A46-470798409E15}"/>
              </a:ext>
            </a:extLst>
          </p:cNvPr>
          <p:cNvCxnSpPr/>
          <p:nvPr/>
        </p:nvCxnSpPr>
        <p:spPr>
          <a:xfrm>
            <a:off x="6096000" y="1517904"/>
            <a:ext cx="0" cy="4672584"/>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598920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6769C-A26D-97F1-62F2-ECFDA572055C}"/>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D879FBB2-CDD7-359C-1C54-7F998E2F51A3}"/>
              </a:ext>
            </a:extLst>
          </p:cNvPr>
          <p:cNvSpPr/>
          <p:nvPr/>
        </p:nvSpPr>
        <p:spPr>
          <a:xfrm>
            <a:off x="0" y="0"/>
            <a:ext cx="12192000" cy="99669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5400" dirty="0"/>
              <a:t>今後の展望</a:t>
            </a:r>
          </a:p>
        </p:txBody>
      </p:sp>
      <p:sp>
        <p:nvSpPr>
          <p:cNvPr id="5" name="テキスト ボックス 4">
            <a:extLst>
              <a:ext uri="{FF2B5EF4-FFF2-40B4-BE49-F238E27FC236}">
                <a16:creationId xmlns:a16="http://schemas.microsoft.com/office/drawing/2014/main" id="{E98A1D21-4CF1-B6F2-7D19-1E83CF0CFC77}"/>
              </a:ext>
            </a:extLst>
          </p:cNvPr>
          <p:cNvSpPr txBox="1"/>
          <p:nvPr/>
        </p:nvSpPr>
        <p:spPr>
          <a:xfrm>
            <a:off x="167259" y="1466850"/>
            <a:ext cx="11674991" cy="3539430"/>
          </a:xfrm>
          <a:prstGeom prst="rect">
            <a:avLst/>
          </a:prstGeom>
          <a:noFill/>
        </p:spPr>
        <p:txBody>
          <a:bodyPr wrap="none" rtlCol="0">
            <a:spAutoFit/>
          </a:bodyPr>
          <a:lstStyle/>
          <a:p>
            <a:r>
              <a:rPr lang="ja-JP" altLang="en-US" sz="3200" b="1" dirty="0"/>
              <a:t>・ローンに重みをつけて分析</a:t>
            </a:r>
            <a:endParaRPr lang="en-US" altLang="ja-JP" sz="3200" b="1" dirty="0"/>
          </a:p>
          <a:p>
            <a:endParaRPr kumimoji="1" lang="en-US" altLang="ja-JP" sz="3200" b="1" dirty="0"/>
          </a:p>
          <a:p>
            <a:r>
              <a:rPr lang="ja-JP" altLang="en-US" sz="3200" b="1" dirty="0"/>
              <a:t>・アプリの有効性が示されたので投資勧誘のための欲しい銘柄</a:t>
            </a:r>
            <a:endParaRPr lang="en-US" altLang="ja-JP" sz="3200" b="1" dirty="0"/>
          </a:p>
          <a:p>
            <a:r>
              <a:rPr lang="ja-JP" altLang="en-US" sz="3200" b="1" dirty="0"/>
              <a:t>　から自動に最適ポートフォリオを計算するアプリの作成</a:t>
            </a:r>
            <a:endParaRPr lang="en-US" altLang="ja-JP" sz="3200" b="1" dirty="0"/>
          </a:p>
          <a:p>
            <a:endParaRPr lang="en-US" altLang="ja-JP" sz="3200" b="1" dirty="0"/>
          </a:p>
          <a:p>
            <a:endParaRPr kumimoji="1" lang="en-US" altLang="ja-JP" sz="3200" b="1" dirty="0"/>
          </a:p>
          <a:p>
            <a:endParaRPr kumimoji="1" lang="ja-JP" altLang="en-US" sz="3200" b="1" dirty="0"/>
          </a:p>
        </p:txBody>
      </p:sp>
    </p:spTree>
    <p:extLst>
      <p:ext uri="{BB962C8B-B14F-4D97-AF65-F5344CB8AC3E}">
        <p14:creationId xmlns:p14="http://schemas.microsoft.com/office/powerpoint/2010/main" val="3877388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2C1D86-78BA-A6D4-78B5-175D77A57220}"/>
              </a:ext>
            </a:extLst>
          </p:cNvPr>
          <p:cNvSpPr>
            <a:spLocks noGrp="1"/>
          </p:cNvSpPr>
          <p:nvPr>
            <p:ph type="title"/>
          </p:nvPr>
        </p:nvSpPr>
        <p:spPr/>
        <p:txBody>
          <a:bodyPr/>
          <a:lstStyle/>
          <a:p>
            <a:r>
              <a:rPr kumimoji="1" lang="ja-JP" altLang="en-US" dirty="0"/>
              <a:t>付録、各種データ</a:t>
            </a:r>
          </a:p>
        </p:txBody>
      </p:sp>
      <p:sp>
        <p:nvSpPr>
          <p:cNvPr id="3" name="コンテンツ プレースホルダー 2">
            <a:extLst>
              <a:ext uri="{FF2B5EF4-FFF2-40B4-BE49-F238E27FC236}">
                <a16:creationId xmlns:a16="http://schemas.microsoft.com/office/drawing/2014/main" id="{9AF0ECF8-2C5D-FBF0-A2E7-3B74785B50DB}"/>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37738219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277</TotalTime>
  <Words>1166</Words>
  <Application>Microsoft Office PowerPoint</Application>
  <PresentationFormat>ワイド画面</PresentationFormat>
  <Paragraphs>202</Paragraphs>
  <Slides>16</Slides>
  <Notes>1</Notes>
  <HiddenSlides>0</HiddenSlides>
  <MMClips>0</MMClips>
  <ScaleCrop>false</ScaleCrop>
  <HeadingPairs>
    <vt:vector size="4" baseType="variant">
      <vt:variant>
        <vt:lpstr>テーマ</vt:lpstr>
      </vt:variant>
      <vt:variant>
        <vt:i4>1</vt:i4>
      </vt:variant>
      <vt:variant>
        <vt:lpstr>スライド タイトル</vt:lpstr>
      </vt:variant>
      <vt:variant>
        <vt:i4>16</vt:i4>
      </vt:variant>
    </vt:vector>
  </HeadingPairs>
  <TitlesOfParts>
    <vt:vector size="17" baseType="lpstr">
      <vt:lpstr>Office テーマ</vt:lpstr>
      <vt:lpstr>投資勧誘戦略について</vt:lpstr>
      <vt:lpstr>もくじ</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付録、各種データ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投資勧誘戦略について</dc:title>
  <dc:creator>一輝 小嶋</dc:creator>
  <cp:lastModifiedBy>k2313080</cp:lastModifiedBy>
  <cp:revision>17</cp:revision>
  <dcterms:created xsi:type="dcterms:W3CDTF">2025-08-21T03:03:28Z</dcterms:created>
  <dcterms:modified xsi:type="dcterms:W3CDTF">2026-03-31T14:34:04Z</dcterms:modified>
</cp:coreProperties>
</file>